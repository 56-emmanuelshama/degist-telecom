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sldIdLst>
    <p:sldId id="256" r:id="rId2"/>
    <p:sldId id="285" r:id="rId3"/>
    <p:sldId id="264" r:id="rId4"/>
    <p:sldId id="296" r:id="rId5"/>
    <p:sldId id="297" r:id="rId6"/>
    <p:sldId id="298" r:id="rId7"/>
    <p:sldId id="299" r:id="rId8"/>
    <p:sldId id="300" r:id="rId9"/>
    <p:sldId id="301" r:id="rId10"/>
    <p:sldId id="302" r:id="rId11"/>
    <p:sldId id="303" r:id="rId12"/>
    <p:sldId id="304" r:id="rId13"/>
    <p:sldId id="305" r:id="rId14"/>
    <p:sldId id="306" r:id="rId15"/>
    <p:sldId id="28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76" autoAdjust="0"/>
    <p:restoredTop sz="94773" autoAdjust="0"/>
  </p:normalViewPr>
  <p:slideViewPr>
    <p:cSldViewPr snapToGrid="0">
      <p:cViewPr varScale="1">
        <p:scale>
          <a:sx n="85" d="100"/>
          <a:sy n="85" d="100"/>
        </p:scale>
        <p:origin x="69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 Mutuku" userId="49c38bd9476d7346" providerId="LiveId" clId="{B33F1764-B875-456F-8E1E-EB45A3B6F075}"/>
    <pc:docChg chg="undo custSel addSld delSld modSld">
      <pc:chgData name="Francis Mutuku" userId="49c38bd9476d7346" providerId="LiveId" clId="{B33F1764-B875-456F-8E1E-EB45A3B6F075}" dt="2026-01-22T16:05:43.398" v="11949" actId="207"/>
      <pc:docMkLst>
        <pc:docMk/>
      </pc:docMkLst>
      <pc:sldChg chg="modSp mod">
        <pc:chgData name="Francis Mutuku" userId="49c38bd9476d7346" providerId="LiveId" clId="{B33F1764-B875-456F-8E1E-EB45A3B6F075}" dt="2026-01-22T16:05:43.398" v="11949" actId="207"/>
        <pc:sldMkLst>
          <pc:docMk/>
          <pc:sldMk cId="1084149971" sldId="264"/>
        </pc:sldMkLst>
        <pc:spChg chg="mod">
          <ac:chgData name="Francis Mutuku" userId="49c38bd9476d7346" providerId="LiveId" clId="{B33F1764-B875-456F-8E1E-EB45A3B6F075}" dt="2026-01-20T08:21:25.534" v="3284" actId="20577"/>
          <ac:spMkLst>
            <pc:docMk/>
            <pc:sldMk cId="1084149971" sldId="264"/>
            <ac:spMk id="10245" creationId="{00000000-0000-0000-0000-000000000000}"/>
          </ac:spMkLst>
        </pc:spChg>
        <pc:spChg chg="mod">
          <ac:chgData name="Francis Mutuku" userId="49c38bd9476d7346" providerId="LiveId" clId="{B33F1764-B875-456F-8E1E-EB45A3B6F075}" dt="2026-01-22T16:05:43.398" v="11949" actId="207"/>
          <ac:spMkLst>
            <pc:docMk/>
            <pc:sldMk cId="1084149971" sldId="264"/>
            <ac:spMk id="10246" creationId="{00000000-0000-0000-0000-000000000000}"/>
          </ac:spMkLst>
        </pc:spChg>
      </pc:sldChg>
      <pc:sldChg chg="modSp mod">
        <pc:chgData name="Francis Mutuku" userId="49c38bd9476d7346" providerId="LiveId" clId="{B33F1764-B875-456F-8E1E-EB45A3B6F075}" dt="2026-01-20T10:15:11.431" v="11248" actId="20577"/>
        <pc:sldMkLst>
          <pc:docMk/>
          <pc:sldMk cId="221668082" sldId="285"/>
        </pc:sldMkLst>
        <pc:spChg chg="mod">
          <ac:chgData name="Francis Mutuku" userId="49c38bd9476d7346" providerId="LiveId" clId="{B33F1764-B875-456F-8E1E-EB45A3B6F075}" dt="2026-01-20T10:15:11.431" v="11248" actId="20577"/>
          <ac:spMkLst>
            <pc:docMk/>
            <pc:sldMk cId="221668082" sldId="285"/>
            <ac:spMk id="3" creationId="{00000000-0000-0000-0000-000000000000}"/>
          </ac:spMkLst>
        </pc:spChg>
      </pc:sldChg>
      <pc:sldChg chg="addSp modSp add mod">
        <pc:chgData name="Francis Mutuku" userId="49c38bd9476d7346" providerId="LiveId" clId="{B33F1764-B875-456F-8E1E-EB45A3B6F075}" dt="2026-01-22T15:01:25.226" v="11835" actId="207"/>
        <pc:sldMkLst>
          <pc:docMk/>
          <pc:sldMk cId="1538955753" sldId="296"/>
        </pc:sldMkLst>
        <pc:spChg chg="add mod">
          <ac:chgData name="Francis Mutuku" userId="49c38bd9476d7346" providerId="LiveId" clId="{B33F1764-B875-456F-8E1E-EB45A3B6F075}" dt="2026-01-20T08:27:15.595" v="3574" actId="14100"/>
          <ac:spMkLst>
            <pc:docMk/>
            <pc:sldMk cId="1538955753" sldId="296"/>
            <ac:spMk id="3" creationId="{FDB2495D-C281-E08C-DCB8-CC46118BBC00}"/>
          </ac:spMkLst>
        </pc:spChg>
        <pc:spChg chg="mod">
          <ac:chgData name="Francis Mutuku" userId="49c38bd9476d7346" providerId="LiveId" clId="{B33F1764-B875-456F-8E1E-EB45A3B6F075}" dt="2026-01-20T08:26:58.723" v="3550" actId="20577"/>
          <ac:spMkLst>
            <pc:docMk/>
            <pc:sldMk cId="1538955753" sldId="296"/>
            <ac:spMk id="10245" creationId="{B69F9198-D18E-112B-4428-7D5F7F60E826}"/>
          </ac:spMkLst>
        </pc:spChg>
        <pc:spChg chg="mod">
          <ac:chgData name="Francis Mutuku" userId="49c38bd9476d7346" providerId="LiveId" clId="{B33F1764-B875-456F-8E1E-EB45A3B6F075}" dt="2026-01-22T15:01:25.226" v="11835" actId="207"/>
          <ac:spMkLst>
            <pc:docMk/>
            <pc:sldMk cId="1538955753" sldId="296"/>
            <ac:spMk id="10246" creationId="{BA051077-2748-C7CA-7F0A-826E339DE540}"/>
          </ac:spMkLst>
        </pc:spChg>
      </pc:sldChg>
      <pc:sldChg chg="modSp add mod">
        <pc:chgData name="Francis Mutuku" userId="49c38bd9476d7346" providerId="LiveId" clId="{B33F1764-B875-456F-8E1E-EB45A3B6F075}" dt="2026-01-22T15:08:46.265" v="11841" actId="207"/>
        <pc:sldMkLst>
          <pc:docMk/>
          <pc:sldMk cId="1541845074" sldId="297"/>
        </pc:sldMkLst>
        <pc:spChg chg="mod">
          <ac:chgData name="Francis Mutuku" userId="49c38bd9476d7346" providerId="LiveId" clId="{B33F1764-B875-456F-8E1E-EB45A3B6F075}" dt="2026-01-20T08:34:05.273" v="4307" actId="20577"/>
          <ac:spMkLst>
            <pc:docMk/>
            <pc:sldMk cId="1541845074" sldId="297"/>
            <ac:spMk id="3" creationId="{9FFB84FD-2DB4-E2A1-31BD-4AD3E495D107}"/>
          </ac:spMkLst>
        </pc:spChg>
        <pc:spChg chg="mod">
          <ac:chgData name="Francis Mutuku" userId="49c38bd9476d7346" providerId="LiveId" clId="{B33F1764-B875-456F-8E1E-EB45A3B6F075}" dt="2026-01-22T15:08:46.265" v="11841" actId="207"/>
          <ac:spMkLst>
            <pc:docMk/>
            <pc:sldMk cId="1541845074" sldId="297"/>
            <ac:spMk id="10246" creationId="{C08B81EA-9B64-5822-8659-2BAAC6740CE6}"/>
          </ac:spMkLst>
        </pc:spChg>
      </pc:sldChg>
      <pc:sldChg chg="modSp add mod">
        <pc:chgData name="Francis Mutuku" userId="49c38bd9476d7346" providerId="LiveId" clId="{B33F1764-B875-456F-8E1E-EB45A3B6F075}" dt="2026-01-20T08:45:49.213" v="5264" actId="20577"/>
        <pc:sldMkLst>
          <pc:docMk/>
          <pc:sldMk cId="3081275979" sldId="298"/>
        </pc:sldMkLst>
        <pc:spChg chg="mod">
          <ac:chgData name="Francis Mutuku" userId="49c38bd9476d7346" providerId="LiveId" clId="{B33F1764-B875-456F-8E1E-EB45A3B6F075}" dt="2026-01-20T08:39:50.711" v="4745" actId="20577"/>
          <ac:spMkLst>
            <pc:docMk/>
            <pc:sldMk cId="3081275979" sldId="298"/>
            <ac:spMk id="3" creationId="{4FAD1D3D-A580-5577-BEC8-AA9C1FEBBF72}"/>
          </ac:spMkLst>
        </pc:spChg>
        <pc:spChg chg="mod">
          <ac:chgData name="Francis Mutuku" userId="49c38bd9476d7346" providerId="LiveId" clId="{B33F1764-B875-456F-8E1E-EB45A3B6F075}" dt="2026-01-20T08:45:49.213" v="5264" actId="20577"/>
          <ac:spMkLst>
            <pc:docMk/>
            <pc:sldMk cId="3081275979" sldId="298"/>
            <ac:spMk id="10246" creationId="{9DB87DFA-AA49-9A18-2F3E-A55D62CC926F}"/>
          </ac:spMkLst>
        </pc:spChg>
      </pc:sldChg>
      <pc:sldChg chg="modSp add mod">
        <pc:chgData name="Francis Mutuku" userId="49c38bd9476d7346" providerId="LiveId" clId="{B33F1764-B875-456F-8E1E-EB45A3B6F075}" dt="2026-01-21T05:32:57.910" v="11731" actId="20577"/>
        <pc:sldMkLst>
          <pc:docMk/>
          <pc:sldMk cId="3424857020" sldId="299"/>
        </pc:sldMkLst>
        <pc:spChg chg="mod">
          <ac:chgData name="Francis Mutuku" userId="49c38bd9476d7346" providerId="LiveId" clId="{B33F1764-B875-456F-8E1E-EB45A3B6F075}" dt="2026-01-20T08:47:04.325" v="5280" actId="20577"/>
          <ac:spMkLst>
            <pc:docMk/>
            <pc:sldMk cId="3424857020" sldId="299"/>
            <ac:spMk id="3" creationId="{836B5E47-EECD-3A49-5763-E0DA53F56E31}"/>
          </ac:spMkLst>
        </pc:spChg>
        <pc:spChg chg="mod">
          <ac:chgData name="Francis Mutuku" userId="49c38bd9476d7346" providerId="LiveId" clId="{B33F1764-B875-456F-8E1E-EB45A3B6F075}" dt="2026-01-21T05:32:57.910" v="11731" actId="20577"/>
          <ac:spMkLst>
            <pc:docMk/>
            <pc:sldMk cId="3424857020" sldId="299"/>
            <ac:spMk id="10246" creationId="{4EA1EFAC-FF0A-4EDE-6E6D-D99A70BC4F74}"/>
          </ac:spMkLst>
        </pc:spChg>
      </pc:sldChg>
      <pc:sldChg chg="modSp add mod">
        <pc:chgData name="Francis Mutuku" userId="49c38bd9476d7346" providerId="LiveId" clId="{B33F1764-B875-456F-8E1E-EB45A3B6F075}" dt="2026-01-22T15:26:32.035" v="11852" actId="6549"/>
        <pc:sldMkLst>
          <pc:docMk/>
          <pc:sldMk cId="440330457" sldId="300"/>
        </pc:sldMkLst>
        <pc:spChg chg="mod">
          <ac:chgData name="Francis Mutuku" userId="49c38bd9476d7346" providerId="LiveId" clId="{B33F1764-B875-456F-8E1E-EB45A3B6F075}" dt="2026-01-20T08:50:57.390" v="5644" actId="20577"/>
          <ac:spMkLst>
            <pc:docMk/>
            <pc:sldMk cId="440330457" sldId="300"/>
            <ac:spMk id="3" creationId="{DA64F6E6-B6E2-2832-42BB-32037485903B}"/>
          </ac:spMkLst>
        </pc:spChg>
        <pc:spChg chg="mod">
          <ac:chgData name="Francis Mutuku" userId="49c38bd9476d7346" providerId="LiveId" clId="{B33F1764-B875-456F-8E1E-EB45A3B6F075}" dt="2026-01-22T15:26:32.035" v="11852" actId="6549"/>
          <ac:spMkLst>
            <pc:docMk/>
            <pc:sldMk cId="440330457" sldId="300"/>
            <ac:spMk id="10246" creationId="{4E1FE875-7EF9-32EC-FB60-77D0F7DB7FA0}"/>
          </ac:spMkLst>
        </pc:spChg>
      </pc:sldChg>
      <pc:sldChg chg="modSp add mod">
        <pc:chgData name="Francis Mutuku" userId="49c38bd9476d7346" providerId="LiveId" clId="{B33F1764-B875-456F-8E1E-EB45A3B6F075}" dt="2026-01-21T05:48:52.434" v="11765" actId="1076"/>
        <pc:sldMkLst>
          <pc:docMk/>
          <pc:sldMk cId="2108602113" sldId="301"/>
        </pc:sldMkLst>
        <pc:spChg chg="mod">
          <ac:chgData name="Francis Mutuku" userId="49c38bd9476d7346" providerId="LiveId" clId="{B33F1764-B875-456F-8E1E-EB45A3B6F075}" dt="2026-01-21T05:48:52.434" v="11765" actId="1076"/>
          <ac:spMkLst>
            <pc:docMk/>
            <pc:sldMk cId="2108602113" sldId="301"/>
            <ac:spMk id="3" creationId="{C2A4512E-BCCB-8474-0B6B-1D85F751C547}"/>
          </ac:spMkLst>
        </pc:spChg>
        <pc:spChg chg="mod">
          <ac:chgData name="Francis Mutuku" userId="49c38bd9476d7346" providerId="LiveId" clId="{B33F1764-B875-456F-8E1E-EB45A3B6F075}" dt="2026-01-20T09:10:39.032" v="7115" actId="20577"/>
          <ac:spMkLst>
            <pc:docMk/>
            <pc:sldMk cId="2108602113" sldId="301"/>
            <ac:spMk id="10246" creationId="{EC6B28BD-4527-D092-7000-41B6ED8F2A08}"/>
          </ac:spMkLst>
        </pc:spChg>
      </pc:sldChg>
      <pc:sldChg chg="modSp add mod">
        <pc:chgData name="Francis Mutuku" userId="49c38bd9476d7346" providerId="LiveId" clId="{B33F1764-B875-456F-8E1E-EB45A3B6F075}" dt="2026-01-22T15:48:31.991" v="11939" actId="20578"/>
        <pc:sldMkLst>
          <pc:docMk/>
          <pc:sldMk cId="3683847325" sldId="302"/>
        </pc:sldMkLst>
        <pc:spChg chg="mod">
          <ac:chgData name="Francis Mutuku" userId="49c38bd9476d7346" providerId="LiveId" clId="{B33F1764-B875-456F-8E1E-EB45A3B6F075}" dt="2026-01-20T09:12:27.947" v="7131" actId="20577"/>
          <ac:spMkLst>
            <pc:docMk/>
            <pc:sldMk cId="3683847325" sldId="302"/>
            <ac:spMk id="3" creationId="{CDACB816-3B60-DF61-FE7A-6A0F2B1CFCBF}"/>
          </ac:spMkLst>
        </pc:spChg>
        <pc:spChg chg="mod">
          <ac:chgData name="Francis Mutuku" userId="49c38bd9476d7346" providerId="LiveId" clId="{B33F1764-B875-456F-8E1E-EB45A3B6F075}" dt="2026-01-22T15:48:31.991" v="11939" actId="20578"/>
          <ac:spMkLst>
            <pc:docMk/>
            <pc:sldMk cId="3683847325" sldId="302"/>
            <ac:spMk id="10246" creationId="{F474B66A-B144-C581-A411-38DA71C3D659}"/>
          </ac:spMkLst>
        </pc:spChg>
      </pc:sldChg>
      <pc:sldChg chg="modSp add mod">
        <pc:chgData name="Francis Mutuku" userId="49c38bd9476d7346" providerId="LiveId" clId="{B33F1764-B875-456F-8E1E-EB45A3B6F075}" dt="2026-01-21T06:01:33.760" v="11781" actId="255"/>
        <pc:sldMkLst>
          <pc:docMk/>
          <pc:sldMk cId="3766059784" sldId="303"/>
        </pc:sldMkLst>
        <pc:spChg chg="mod">
          <ac:chgData name="Francis Mutuku" userId="49c38bd9476d7346" providerId="LiveId" clId="{B33F1764-B875-456F-8E1E-EB45A3B6F075}" dt="2026-01-20T09:32:53.228" v="8504" actId="20577"/>
          <ac:spMkLst>
            <pc:docMk/>
            <pc:sldMk cId="3766059784" sldId="303"/>
            <ac:spMk id="3" creationId="{D392A706-937E-F515-CD76-F85A3BF9EE90}"/>
          </ac:spMkLst>
        </pc:spChg>
        <pc:spChg chg="mod">
          <ac:chgData name="Francis Mutuku" userId="49c38bd9476d7346" providerId="LiveId" clId="{B33F1764-B875-456F-8E1E-EB45A3B6F075}" dt="2026-01-21T06:01:33.760" v="11781" actId="255"/>
          <ac:spMkLst>
            <pc:docMk/>
            <pc:sldMk cId="3766059784" sldId="303"/>
            <ac:spMk id="10246" creationId="{D79FC471-D944-3422-EC78-3703CC011727}"/>
          </ac:spMkLst>
        </pc:spChg>
      </pc:sldChg>
      <pc:sldChg chg="modSp add mod">
        <pc:chgData name="Francis Mutuku" userId="49c38bd9476d7346" providerId="LiveId" clId="{B33F1764-B875-456F-8E1E-EB45A3B6F075}" dt="2026-01-20T09:37:13.246" v="9011" actId="20577"/>
        <pc:sldMkLst>
          <pc:docMk/>
          <pc:sldMk cId="1360838651" sldId="304"/>
        </pc:sldMkLst>
        <pc:spChg chg="mod">
          <ac:chgData name="Francis Mutuku" userId="49c38bd9476d7346" providerId="LiveId" clId="{B33F1764-B875-456F-8E1E-EB45A3B6F075}" dt="2026-01-20T09:32:58.757" v="8514" actId="20577"/>
          <ac:spMkLst>
            <pc:docMk/>
            <pc:sldMk cId="1360838651" sldId="304"/>
            <ac:spMk id="3" creationId="{BC2CB2B5-1A65-DA39-C931-18AF72EACCB0}"/>
          </ac:spMkLst>
        </pc:spChg>
        <pc:spChg chg="mod">
          <ac:chgData name="Francis Mutuku" userId="49c38bd9476d7346" providerId="LiveId" clId="{B33F1764-B875-456F-8E1E-EB45A3B6F075}" dt="2026-01-20T09:37:13.246" v="9011" actId="20577"/>
          <ac:spMkLst>
            <pc:docMk/>
            <pc:sldMk cId="1360838651" sldId="304"/>
            <ac:spMk id="10246" creationId="{94997092-F342-E2C1-9802-1275FC681CE7}"/>
          </ac:spMkLst>
        </pc:spChg>
      </pc:sldChg>
      <pc:sldChg chg="modSp add mod">
        <pc:chgData name="Francis Mutuku" userId="49c38bd9476d7346" providerId="LiveId" clId="{B33F1764-B875-456F-8E1E-EB45A3B6F075}" dt="2026-01-22T16:01:26.892" v="11944" actId="207"/>
        <pc:sldMkLst>
          <pc:docMk/>
          <pc:sldMk cId="3611880771" sldId="305"/>
        </pc:sldMkLst>
        <pc:spChg chg="mod">
          <ac:chgData name="Francis Mutuku" userId="49c38bd9476d7346" providerId="LiveId" clId="{B33F1764-B875-456F-8E1E-EB45A3B6F075}" dt="2026-01-20T09:38:46.485" v="9032" actId="20577"/>
          <ac:spMkLst>
            <pc:docMk/>
            <pc:sldMk cId="3611880771" sldId="305"/>
            <ac:spMk id="3" creationId="{B460808C-6DA6-0E19-2C9B-0635A07EE7AA}"/>
          </ac:spMkLst>
        </pc:spChg>
        <pc:spChg chg="mod">
          <ac:chgData name="Francis Mutuku" userId="49c38bd9476d7346" providerId="LiveId" clId="{B33F1764-B875-456F-8E1E-EB45A3B6F075}" dt="2026-01-22T16:01:26.892" v="11944" actId="207"/>
          <ac:spMkLst>
            <pc:docMk/>
            <pc:sldMk cId="3611880771" sldId="305"/>
            <ac:spMk id="10246" creationId="{7B250955-9DF3-966A-5EAE-CFA2DAC86C8A}"/>
          </ac:spMkLst>
        </pc:spChg>
      </pc:sldChg>
      <pc:sldChg chg="modSp add mod">
        <pc:chgData name="Francis Mutuku" userId="49c38bd9476d7346" providerId="LiveId" clId="{B33F1764-B875-456F-8E1E-EB45A3B6F075}" dt="2026-01-21T06:18:17.452" v="11830" actId="20577"/>
        <pc:sldMkLst>
          <pc:docMk/>
          <pc:sldMk cId="1387643127" sldId="306"/>
        </pc:sldMkLst>
        <pc:spChg chg="mod">
          <ac:chgData name="Francis Mutuku" userId="49c38bd9476d7346" providerId="LiveId" clId="{B33F1764-B875-456F-8E1E-EB45A3B6F075}" dt="2026-01-21T06:13:20.674" v="11805" actId="207"/>
          <ac:spMkLst>
            <pc:docMk/>
            <pc:sldMk cId="1387643127" sldId="306"/>
            <ac:spMk id="3" creationId="{37E936D1-143E-BC8F-7EF4-F6BFD743CB1F}"/>
          </ac:spMkLst>
        </pc:spChg>
        <pc:spChg chg="mod">
          <ac:chgData name="Francis Mutuku" userId="49c38bd9476d7346" providerId="LiveId" clId="{B33F1764-B875-456F-8E1E-EB45A3B6F075}" dt="2026-01-21T06:18:17.452" v="11830" actId="20577"/>
          <ac:spMkLst>
            <pc:docMk/>
            <pc:sldMk cId="1387643127" sldId="306"/>
            <ac:spMk id="10246" creationId="{732169BD-2529-A4D7-0525-731960229C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A64EE-ADE8-49E8-90AF-F629490061D4}"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E4D2CE-AF4D-4B19-9A3D-E89579D61109}" type="slidenum">
              <a:rPr lang="en-US" smtClean="0"/>
              <a:t>‹#›</a:t>
            </a:fld>
            <a:endParaRPr lang="en-US"/>
          </a:p>
        </p:txBody>
      </p:sp>
    </p:spTree>
    <p:extLst>
      <p:ext uri="{BB962C8B-B14F-4D97-AF65-F5344CB8AC3E}">
        <p14:creationId xmlns:p14="http://schemas.microsoft.com/office/powerpoint/2010/main" val="3940878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050"/>
          <p:cNvGrpSpPr>
            <a:grpSpLocks/>
          </p:cNvGrpSpPr>
          <p:nvPr/>
        </p:nvGrpSpPr>
        <p:grpSpPr bwMode="auto">
          <a:xfrm>
            <a:off x="0" y="0"/>
            <a:ext cx="12192000" cy="6858000"/>
            <a:chOff x="0" y="0"/>
            <a:chExt cx="5760" cy="4320"/>
          </a:xfrm>
        </p:grpSpPr>
        <p:grpSp>
          <p:nvGrpSpPr>
            <p:cNvPr id="5" name="Group 2051"/>
            <p:cNvGrpSpPr>
              <a:grpSpLocks/>
            </p:cNvGrpSpPr>
            <p:nvPr/>
          </p:nvGrpSpPr>
          <p:grpSpPr bwMode="auto">
            <a:xfrm>
              <a:off x="0" y="0"/>
              <a:ext cx="5760" cy="4320"/>
              <a:chOff x="0" y="0"/>
              <a:chExt cx="5760" cy="4320"/>
            </a:xfrm>
          </p:grpSpPr>
          <p:sp>
            <p:nvSpPr>
              <p:cNvPr id="15" name="Rectangle 2052"/>
              <p:cNvSpPr>
                <a:spLocks noChangeArrowheads="1"/>
              </p:cNvSpPr>
              <p:nvPr/>
            </p:nvSpPr>
            <p:spPr bwMode="ltGray">
              <a:xfrm>
                <a:off x="2112" y="0"/>
                <a:ext cx="3648" cy="9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800"/>
              </a:p>
            </p:txBody>
          </p:sp>
          <p:grpSp>
            <p:nvGrpSpPr>
              <p:cNvPr id="16" name="Group 2053"/>
              <p:cNvGrpSpPr>
                <a:grpSpLocks/>
              </p:cNvGrpSpPr>
              <p:nvPr/>
            </p:nvGrpSpPr>
            <p:grpSpPr bwMode="auto">
              <a:xfrm>
                <a:off x="0" y="0"/>
                <a:ext cx="5760" cy="4320"/>
                <a:chOff x="0" y="0"/>
                <a:chExt cx="5760" cy="4320"/>
              </a:xfrm>
            </p:grpSpPr>
            <p:sp>
              <p:nvSpPr>
                <p:cNvPr id="18" name="Line 2054"/>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9" name="Line 2055"/>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0" name="Line 2056"/>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1" name="Line 2057"/>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2" name="Line 2058"/>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3" name="Line 2059"/>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4" name="Line 2060"/>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5" name="Line 2061"/>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6" name="Line 2062"/>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7" name="Line 2063"/>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8" name="Line 2064"/>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9" name="Line 2065"/>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0" name="Line 2066"/>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1" name="Line 2067"/>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2" name="Line 2068"/>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3" name="Line 2069"/>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4" name="Line 2070"/>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5" name="Line 2071"/>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6" name="Line 2072"/>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7" name="Line 2073"/>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8" name="Line 2074"/>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39" name="Line 2075"/>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0" name="Line 2076"/>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1" name="Line 2077"/>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2" name="Line 2078"/>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3" name="Line 2079"/>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4" name="Line 2080"/>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5" name="Line 2081"/>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6" name="Line 2082"/>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7" name="Line 2083"/>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8" name="Line 2084"/>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49" name="Line 2085"/>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0" name="Line 2086"/>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1" name="Line 2087"/>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2" name="Line 2088"/>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3" name="Line 2089"/>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4" name="Line 2090"/>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5" name="Line 2091"/>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6" name="Line 2092"/>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7" name="Line 2093"/>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8" name="Line 2094"/>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59" name="Line 2095"/>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0" name="Line 2096"/>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1" name="Line 2097"/>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2" name="Line 2098"/>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3" name="Line 2099"/>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4" name="Line 2100"/>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5" name="Line 2101"/>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6" name="Line 2102"/>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7" name="Line 2103"/>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68" name="Line 2104"/>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sp>
            <p:nvSpPr>
              <p:cNvPr id="17" name="Line 2105"/>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grpSp>
          <p:nvGrpSpPr>
            <p:cNvPr id="6" name="Group 2106"/>
            <p:cNvGrpSpPr>
              <a:grpSpLocks/>
            </p:cNvGrpSpPr>
            <p:nvPr/>
          </p:nvGrpSpPr>
          <p:grpSpPr bwMode="auto">
            <a:xfrm>
              <a:off x="3" y="559"/>
              <a:ext cx="4192" cy="1796"/>
              <a:chOff x="3" y="559"/>
              <a:chExt cx="4192" cy="1796"/>
            </a:xfrm>
          </p:grpSpPr>
          <p:sp>
            <p:nvSpPr>
              <p:cNvPr id="11" name="Line 2107"/>
              <p:cNvSpPr>
                <a:spLocks noChangeShapeType="1"/>
              </p:cNvSpPr>
              <p:nvPr/>
            </p:nvSpPr>
            <p:spPr bwMode="ltGray">
              <a:xfrm>
                <a:off x="506" y="559"/>
                <a:ext cx="0" cy="17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2" name="Line 2108"/>
              <p:cNvSpPr>
                <a:spLocks noChangeShapeType="1"/>
              </p:cNvSpPr>
              <p:nvPr/>
            </p:nvSpPr>
            <p:spPr bwMode="ltGray">
              <a:xfrm flipH="1" flipV="1">
                <a:off x="3" y="1924"/>
                <a:ext cx="32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3" name="Line 2109"/>
              <p:cNvSpPr>
                <a:spLocks noChangeShapeType="1"/>
              </p:cNvSpPr>
              <p:nvPr/>
            </p:nvSpPr>
            <p:spPr bwMode="ltGray">
              <a:xfrm flipH="1" flipV="1">
                <a:off x="384" y="938"/>
                <a:ext cx="38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4" name="Arc 2110"/>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grpSp>
        <p:grpSp>
          <p:nvGrpSpPr>
            <p:cNvPr id="7" name="Group 2111"/>
            <p:cNvGrpSpPr>
              <a:grpSpLocks/>
            </p:cNvGrpSpPr>
            <p:nvPr/>
          </p:nvGrpSpPr>
          <p:grpSpPr bwMode="auto">
            <a:xfrm>
              <a:off x="1480" y="1952"/>
              <a:ext cx="3808" cy="1812"/>
              <a:chOff x="1480" y="1952"/>
              <a:chExt cx="3808" cy="1812"/>
            </a:xfrm>
          </p:grpSpPr>
          <p:sp>
            <p:nvSpPr>
              <p:cNvPr id="8" name="Line 2112"/>
              <p:cNvSpPr>
                <a:spLocks noChangeShapeType="1"/>
              </p:cNvSpPr>
              <p:nvPr/>
            </p:nvSpPr>
            <p:spPr bwMode="ltGray">
              <a:xfrm flipV="1">
                <a:off x="1480" y="3442"/>
                <a:ext cx="38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9" name="Line 2113"/>
              <p:cNvSpPr>
                <a:spLocks noChangeShapeType="1"/>
              </p:cNvSpPr>
              <p:nvPr/>
            </p:nvSpPr>
            <p:spPr bwMode="ltGray">
              <a:xfrm flipH="1">
                <a:off x="5172" y="1952"/>
                <a:ext cx="0" cy="181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 name="Arc 2114"/>
              <p:cNvSpPr>
                <a:spLocks/>
              </p:cNvSpPr>
              <p:nvPr/>
            </p:nvSpPr>
            <p:spPr bwMode="ltGray">
              <a:xfrm rot="5400000">
                <a:off x="5097" y="3346"/>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grpSp>
      </p:grpSp>
      <p:sp>
        <p:nvSpPr>
          <p:cNvPr id="30787" name="Rectangle 2115"/>
          <p:cNvSpPr>
            <a:spLocks noGrp="1" noChangeArrowheads="1"/>
          </p:cNvSpPr>
          <p:nvPr>
            <p:ph type="ctrTitle"/>
          </p:nvPr>
        </p:nvSpPr>
        <p:spPr>
          <a:xfrm>
            <a:off x="1320800" y="1752600"/>
            <a:ext cx="10363200" cy="1143000"/>
          </a:xfrm>
        </p:spPr>
        <p:txBody>
          <a:bodyPr/>
          <a:lstStyle>
            <a:lvl1pPr>
              <a:defRPr/>
            </a:lvl1pPr>
          </a:lstStyle>
          <a:p>
            <a:r>
              <a:rPr lang="en-US"/>
              <a:t>Click to edit Master title style</a:t>
            </a:r>
          </a:p>
        </p:txBody>
      </p:sp>
      <p:sp>
        <p:nvSpPr>
          <p:cNvPr id="30788" name="Rectangle 2116" descr="Rectangle: Click to edit Master text styles&#10;Second level&#10;Third level&#10;Fourth level&#10;Fifth level"/>
          <p:cNvSpPr>
            <a:spLocks noGrp="1" noChangeArrowheads="1"/>
          </p:cNvSpPr>
          <p:nvPr>
            <p:ph type="subTitle" idx="1"/>
          </p:nvPr>
        </p:nvSpPr>
        <p:spPr>
          <a:xfrm>
            <a:off x="1320800" y="3309938"/>
            <a:ext cx="8534400" cy="1752600"/>
          </a:xfrm>
        </p:spPr>
        <p:txBody>
          <a:bodyPr/>
          <a:lstStyle>
            <a:lvl1pPr marL="0" indent="0">
              <a:buFont typeface="Wingdings" pitchFamily="2" charset="2"/>
              <a:buNone/>
              <a:defRPr/>
            </a:lvl1pPr>
          </a:lstStyle>
          <a:p>
            <a:r>
              <a:rPr lang="en-US"/>
              <a:t>Click to edit Master subtitle style</a:t>
            </a:r>
          </a:p>
        </p:txBody>
      </p:sp>
      <p:sp>
        <p:nvSpPr>
          <p:cNvPr id="69" name="Rectangle 2117"/>
          <p:cNvSpPr>
            <a:spLocks noGrp="1" noChangeArrowheads="1"/>
          </p:cNvSpPr>
          <p:nvPr>
            <p:ph type="dt" sz="quarter" idx="10"/>
          </p:nvPr>
        </p:nvSpPr>
        <p:spPr/>
        <p:txBody>
          <a:bodyPr/>
          <a:lstStyle>
            <a:lvl1pPr>
              <a:defRPr smtClean="0"/>
            </a:lvl1pPr>
          </a:lstStyle>
          <a:p>
            <a:r>
              <a:rPr lang="en-US"/>
              <a:t>Dr. Kibuku R.</a:t>
            </a:r>
          </a:p>
        </p:txBody>
      </p:sp>
      <p:sp>
        <p:nvSpPr>
          <p:cNvPr id="70" name="Rectangle 2118"/>
          <p:cNvSpPr>
            <a:spLocks noGrp="1" noChangeArrowheads="1"/>
          </p:cNvSpPr>
          <p:nvPr>
            <p:ph type="ftr" sz="quarter" idx="11"/>
          </p:nvPr>
        </p:nvSpPr>
        <p:spPr/>
        <p:txBody>
          <a:bodyPr/>
          <a:lstStyle>
            <a:lvl1pPr>
              <a:defRPr smtClean="0"/>
            </a:lvl1pPr>
          </a:lstStyle>
          <a:p>
            <a:r>
              <a:rPr lang="en-US"/>
              <a:t>Research Methods Intro</a:t>
            </a:r>
          </a:p>
        </p:txBody>
      </p:sp>
      <p:sp>
        <p:nvSpPr>
          <p:cNvPr id="71" name="Rectangle 2119"/>
          <p:cNvSpPr>
            <a:spLocks noGrp="1" noChangeArrowheads="1"/>
          </p:cNvSpPr>
          <p:nvPr>
            <p:ph type="sldNum" sz="quarter" idx="12"/>
          </p:nvPr>
        </p:nvSpPr>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1111189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89"/>
          <p:cNvSpPr>
            <a:spLocks noGrp="1" noChangeArrowheads="1"/>
          </p:cNvSpPr>
          <p:nvPr>
            <p:ph type="dt" sz="half" idx="10"/>
          </p:nvPr>
        </p:nvSpPr>
        <p:spPr>
          <a:ln/>
        </p:spPr>
        <p:txBody>
          <a:bodyPr/>
          <a:lstStyle>
            <a:lvl1pPr>
              <a:defRPr/>
            </a:lvl1pPr>
          </a:lstStyle>
          <a:p>
            <a:r>
              <a:rPr lang="en-US"/>
              <a:t>Dr. Kibuku R.</a:t>
            </a:r>
          </a:p>
        </p:txBody>
      </p:sp>
      <p:sp>
        <p:nvSpPr>
          <p:cNvPr id="5"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6"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102394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1089"/>
          <p:cNvSpPr>
            <a:spLocks noGrp="1" noChangeArrowheads="1"/>
          </p:cNvSpPr>
          <p:nvPr>
            <p:ph type="dt" sz="half" idx="10"/>
          </p:nvPr>
        </p:nvSpPr>
        <p:spPr>
          <a:ln/>
        </p:spPr>
        <p:txBody>
          <a:bodyPr/>
          <a:lstStyle>
            <a:lvl1pPr>
              <a:defRPr/>
            </a:lvl1pPr>
          </a:lstStyle>
          <a:p>
            <a:r>
              <a:rPr lang="en-US"/>
              <a:t>Dr. Kibuku R.</a:t>
            </a:r>
          </a:p>
        </p:txBody>
      </p:sp>
      <p:sp>
        <p:nvSpPr>
          <p:cNvPr id="5"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6"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143684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9050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9050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89"/>
          <p:cNvSpPr>
            <a:spLocks noGrp="1" noChangeArrowheads="1"/>
          </p:cNvSpPr>
          <p:nvPr>
            <p:ph type="dt" sz="half" idx="10"/>
          </p:nvPr>
        </p:nvSpPr>
        <p:spPr>
          <a:ln/>
        </p:spPr>
        <p:txBody>
          <a:bodyPr/>
          <a:lstStyle>
            <a:lvl1pPr>
              <a:defRPr/>
            </a:lvl1pPr>
          </a:lstStyle>
          <a:p>
            <a:r>
              <a:rPr lang="en-US"/>
              <a:t>Dr. Kibuku R.</a:t>
            </a:r>
          </a:p>
        </p:txBody>
      </p:sp>
      <p:sp>
        <p:nvSpPr>
          <p:cNvPr id="6"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7"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414845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89"/>
          <p:cNvSpPr>
            <a:spLocks noGrp="1" noChangeArrowheads="1"/>
          </p:cNvSpPr>
          <p:nvPr>
            <p:ph type="dt" sz="half" idx="10"/>
          </p:nvPr>
        </p:nvSpPr>
        <p:spPr>
          <a:ln/>
        </p:spPr>
        <p:txBody>
          <a:bodyPr/>
          <a:lstStyle>
            <a:lvl1pPr>
              <a:defRPr/>
            </a:lvl1pPr>
          </a:lstStyle>
          <a:p>
            <a:r>
              <a:rPr lang="en-US"/>
              <a:t>Dr. Kibuku R.</a:t>
            </a:r>
          </a:p>
        </p:txBody>
      </p:sp>
      <p:sp>
        <p:nvSpPr>
          <p:cNvPr id="8"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9"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4186411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89"/>
          <p:cNvSpPr>
            <a:spLocks noGrp="1" noChangeArrowheads="1"/>
          </p:cNvSpPr>
          <p:nvPr>
            <p:ph type="dt" sz="half" idx="10"/>
          </p:nvPr>
        </p:nvSpPr>
        <p:spPr>
          <a:ln/>
        </p:spPr>
        <p:txBody>
          <a:bodyPr/>
          <a:lstStyle>
            <a:lvl1pPr>
              <a:defRPr/>
            </a:lvl1pPr>
          </a:lstStyle>
          <a:p>
            <a:r>
              <a:rPr lang="en-US"/>
              <a:t>Dr. Kibuku R.</a:t>
            </a:r>
          </a:p>
        </p:txBody>
      </p:sp>
      <p:sp>
        <p:nvSpPr>
          <p:cNvPr id="4"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5"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359481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89"/>
          <p:cNvSpPr>
            <a:spLocks noGrp="1" noChangeArrowheads="1"/>
          </p:cNvSpPr>
          <p:nvPr>
            <p:ph type="dt" sz="half" idx="10"/>
          </p:nvPr>
        </p:nvSpPr>
        <p:spPr>
          <a:ln/>
        </p:spPr>
        <p:txBody>
          <a:bodyPr/>
          <a:lstStyle>
            <a:lvl1pPr>
              <a:defRPr/>
            </a:lvl1pPr>
          </a:lstStyle>
          <a:p>
            <a:r>
              <a:rPr lang="en-US"/>
              <a:t>Dr. Kibuku R.</a:t>
            </a:r>
          </a:p>
        </p:txBody>
      </p:sp>
      <p:sp>
        <p:nvSpPr>
          <p:cNvPr id="3"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4"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333012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089"/>
          <p:cNvSpPr>
            <a:spLocks noGrp="1" noChangeArrowheads="1"/>
          </p:cNvSpPr>
          <p:nvPr>
            <p:ph type="dt" sz="half" idx="10"/>
          </p:nvPr>
        </p:nvSpPr>
        <p:spPr>
          <a:ln/>
        </p:spPr>
        <p:txBody>
          <a:bodyPr/>
          <a:lstStyle>
            <a:lvl1pPr>
              <a:defRPr/>
            </a:lvl1pPr>
          </a:lstStyle>
          <a:p>
            <a:r>
              <a:rPr lang="en-US"/>
              <a:t>Dr. Kibuku R.</a:t>
            </a:r>
          </a:p>
        </p:txBody>
      </p:sp>
      <p:sp>
        <p:nvSpPr>
          <p:cNvPr id="6"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7"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1323963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089"/>
          <p:cNvSpPr>
            <a:spLocks noGrp="1" noChangeArrowheads="1"/>
          </p:cNvSpPr>
          <p:nvPr>
            <p:ph type="dt" sz="half" idx="10"/>
          </p:nvPr>
        </p:nvSpPr>
        <p:spPr>
          <a:ln/>
        </p:spPr>
        <p:txBody>
          <a:bodyPr/>
          <a:lstStyle>
            <a:lvl1pPr>
              <a:defRPr/>
            </a:lvl1pPr>
          </a:lstStyle>
          <a:p>
            <a:r>
              <a:rPr lang="en-US"/>
              <a:t>Dr. Kibuku R.</a:t>
            </a:r>
          </a:p>
        </p:txBody>
      </p:sp>
      <p:sp>
        <p:nvSpPr>
          <p:cNvPr id="6"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7"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406401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89"/>
          <p:cNvSpPr>
            <a:spLocks noGrp="1" noChangeArrowheads="1"/>
          </p:cNvSpPr>
          <p:nvPr>
            <p:ph type="dt" sz="half" idx="10"/>
          </p:nvPr>
        </p:nvSpPr>
        <p:spPr>
          <a:ln/>
        </p:spPr>
        <p:txBody>
          <a:bodyPr/>
          <a:lstStyle>
            <a:lvl1pPr>
              <a:defRPr/>
            </a:lvl1pPr>
          </a:lstStyle>
          <a:p>
            <a:r>
              <a:rPr lang="en-US"/>
              <a:t>Dr. Kibuku R.</a:t>
            </a:r>
          </a:p>
        </p:txBody>
      </p:sp>
      <p:sp>
        <p:nvSpPr>
          <p:cNvPr id="5"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6"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2891791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304800"/>
            <a:ext cx="26670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304800"/>
            <a:ext cx="7797800" cy="5715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89"/>
          <p:cNvSpPr>
            <a:spLocks noGrp="1" noChangeArrowheads="1"/>
          </p:cNvSpPr>
          <p:nvPr>
            <p:ph type="dt" sz="half" idx="10"/>
          </p:nvPr>
        </p:nvSpPr>
        <p:spPr>
          <a:ln/>
        </p:spPr>
        <p:txBody>
          <a:bodyPr/>
          <a:lstStyle>
            <a:lvl1pPr>
              <a:defRPr/>
            </a:lvl1pPr>
          </a:lstStyle>
          <a:p>
            <a:r>
              <a:rPr lang="en-US"/>
              <a:t>Dr. Kibuku R.</a:t>
            </a:r>
          </a:p>
        </p:txBody>
      </p:sp>
      <p:sp>
        <p:nvSpPr>
          <p:cNvPr id="5" name="Rectangle 1090"/>
          <p:cNvSpPr>
            <a:spLocks noGrp="1" noChangeArrowheads="1"/>
          </p:cNvSpPr>
          <p:nvPr>
            <p:ph type="ftr" sz="quarter" idx="11"/>
          </p:nvPr>
        </p:nvSpPr>
        <p:spPr>
          <a:ln/>
        </p:spPr>
        <p:txBody>
          <a:bodyPr/>
          <a:lstStyle>
            <a:lvl1pPr>
              <a:defRPr/>
            </a:lvl1pPr>
          </a:lstStyle>
          <a:p>
            <a:r>
              <a:rPr lang="en-US"/>
              <a:t>Research Methods Intro</a:t>
            </a:r>
          </a:p>
        </p:txBody>
      </p:sp>
      <p:sp>
        <p:nvSpPr>
          <p:cNvPr id="6" name="Rectangle 1091"/>
          <p:cNvSpPr>
            <a:spLocks noGrp="1" noChangeArrowheads="1"/>
          </p:cNvSpPr>
          <p:nvPr>
            <p:ph type="sldNum" sz="quarter" idx="12"/>
          </p:nvPr>
        </p:nvSpPr>
        <p:spPr>
          <a:ln/>
        </p:spPr>
        <p:txBody>
          <a:bodyPr/>
          <a:lstStyle>
            <a:lvl1pPr>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3265434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p>
        </p:txBody>
      </p:sp>
      <p:sp>
        <p:nvSpPr>
          <p:cNvPr id="3" name="Text Placeholder 2"/>
          <p:cNvSpPr>
            <a:spLocks noGrp="1"/>
          </p:cNvSpPr>
          <p:nvPr>
            <p:ph type="body" sz="half" idx="1"/>
          </p:nvPr>
        </p:nvSpPr>
        <p:spPr>
          <a:xfrm>
            <a:off x="609600" y="1981200"/>
            <a:ext cx="5384800" cy="3886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384800" cy="3886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smtClean="0"/>
            </a:lvl1pPr>
          </a:lstStyle>
          <a:p>
            <a:r>
              <a:rPr lang="en-US"/>
              <a:t>Research Methods Intro</a:t>
            </a:r>
          </a:p>
        </p:txBody>
      </p:sp>
      <p:sp>
        <p:nvSpPr>
          <p:cNvPr id="6" name="Slide Number Placeholder 5"/>
          <p:cNvSpPr>
            <a:spLocks noGrp="1"/>
          </p:cNvSpPr>
          <p:nvPr>
            <p:ph type="sldNum" sz="quarter" idx="11"/>
          </p:nvPr>
        </p:nvSpPr>
        <p:spPr>
          <a:xfrm>
            <a:off x="8737600" y="6248400"/>
            <a:ext cx="2844800" cy="457200"/>
          </a:xfrm>
        </p:spPr>
        <p:txBody>
          <a:bodyPr/>
          <a:lstStyle>
            <a:lvl1pPr>
              <a:defRPr/>
            </a:lvl1pPr>
          </a:lstStyle>
          <a:p>
            <a:fld id="{B08ED41D-C7F6-4EC0-9638-8701CF9B9171}" type="slidenum">
              <a:rPr lang="en-US" smtClean="0"/>
              <a:t>‹#›</a:t>
            </a:fld>
            <a:endParaRPr lang="en-US"/>
          </a:p>
        </p:txBody>
      </p:sp>
      <p:sp>
        <p:nvSpPr>
          <p:cNvPr id="7" name="Date Placeholder 6"/>
          <p:cNvSpPr>
            <a:spLocks noGrp="1"/>
          </p:cNvSpPr>
          <p:nvPr>
            <p:ph type="dt" sz="half" idx="12"/>
          </p:nvPr>
        </p:nvSpPr>
        <p:spPr>
          <a:xfrm>
            <a:off x="609600" y="6245225"/>
            <a:ext cx="2844800" cy="476250"/>
          </a:xfrm>
        </p:spPr>
        <p:txBody>
          <a:bodyPr/>
          <a:lstStyle>
            <a:lvl1pPr>
              <a:defRPr smtClean="0"/>
            </a:lvl1pPr>
          </a:lstStyle>
          <a:p>
            <a:r>
              <a:rPr lang="en-US"/>
              <a:t>Dr. Kibuku R.</a:t>
            </a:r>
          </a:p>
        </p:txBody>
      </p:sp>
    </p:spTree>
    <p:extLst>
      <p:ext uri="{BB962C8B-B14F-4D97-AF65-F5344CB8AC3E}">
        <p14:creationId xmlns:p14="http://schemas.microsoft.com/office/powerpoint/2010/main" val="623640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p>
        </p:txBody>
      </p:sp>
      <p:sp>
        <p:nvSpPr>
          <p:cNvPr id="3" name="Text Placeholder 2"/>
          <p:cNvSpPr>
            <a:spLocks noGrp="1"/>
          </p:cNvSpPr>
          <p:nvPr>
            <p:ph type="body" sz="half" idx="1"/>
          </p:nvPr>
        </p:nvSpPr>
        <p:spPr>
          <a:xfrm>
            <a:off x="609600" y="1981200"/>
            <a:ext cx="5384800" cy="3886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384800" cy="1866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00500"/>
            <a:ext cx="5384800" cy="1866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smtClean="0"/>
            </a:lvl1pPr>
          </a:lstStyle>
          <a:p>
            <a:r>
              <a:rPr lang="en-US"/>
              <a:t>Research Methods Intro</a:t>
            </a:r>
          </a:p>
        </p:txBody>
      </p:sp>
      <p:sp>
        <p:nvSpPr>
          <p:cNvPr id="7" name="Slide Number Placeholder 6"/>
          <p:cNvSpPr>
            <a:spLocks noGrp="1"/>
          </p:cNvSpPr>
          <p:nvPr>
            <p:ph type="sldNum" sz="quarter" idx="11"/>
          </p:nvPr>
        </p:nvSpPr>
        <p:spPr/>
        <p:txBody>
          <a:bodyPr/>
          <a:lstStyle>
            <a:lvl1pPr>
              <a:defRPr/>
            </a:lvl1pPr>
          </a:lstStyle>
          <a:p>
            <a:fld id="{B08ED41D-C7F6-4EC0-9638-8701CF9B9171}" type="slidenum">
              <a:rPr lang="en-US" smtClean="0"/>
              <a:t>‹#›</a:t>
            </a:fld>
            <a:endParaRPr lang="en-US"/>
          </a:p>
        </p:txBody>
      </p:sp>
      <p:sp>
        <p:nvSpPr>
          <p:cNvPr id="8" name="Date Placeholder 7"/>
          <p:cNvSpPr>
            <a:spLocks noGrp="1"/>
          </p:cNvSpPr>
          <p:nvPr>
            <p:ph type="dt" sz="half" idx="12"/>
          </p:nvPr>
        </p:nvSpPr>
        <p:spPr>
          <a:xfrm>
            <a:off x="609600" y="6245225"/>
            <a:ext cx="2844800" cy="476250"/>
          </a:xfrm>
        </p:spPr>
        <p:txBody>
          <a:bodyPr/>
          <a:lstStyle>
            <a:lvl1pPr>
              <a:defRPr smtClean="0"/>
            </a:lvl1pPr>
          </a:lstStyle>
          <a:p>
            <a:r>
              <a:rPr lang="en-US"/>
              <a:t>Dr. Kibuku R.</a:t>
            </a:r>
          </a:p>
        </p:txBody>
      </p:sp>
    </p:spTree>
    <p:extLst>
      <p:ext uri="{BB962C8B-B14F-4D97-AF65-F5344CB8AC3E}">
        <p14:creationId xmlns:p14="http://schemas.microsoft.com/office/powerpoint/2010/main" val="377948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0" y="0"/>
            <a:ext cx="12192000" cy="6858000"/>
            <a:chOff x="0" y="0"/>
            <a:chExt cx="5760" cy="4320"/>
          </a:xfrm>
        </p:grpSpPr>
        <p:grpSp>
          <p:nvGrpSpPr>
            <p:cNvPr id="1032" name="Group 1027"/>
            <p:cNvGrpSpPr>
              <a:grpSpLocks/>
            </p:cNvGrpSpPr>
            <p:nvPr/>
          </p:nvGrpSpPr>
          <p:grpSpPr bwMode="auto">
            <a:xfrm>
              <a:off x="0" y="0"/>
              <a:ext cx="5760" cy="4320"/>
              <a:chOff x="0" y="0"/>
              <a:chExt cx="5760" cy="4320"/>
            </a:xfrm>
          </p:grpSpPr>
          <p:grpSp>
            <p:nvGrpSpPr>
              <p:cNvPr id="1039" name="Group 1028"/>
              <p:cNvGrpSpPr>
                <a:grpSpLocks/>
              </p:cNvGrpSpPr>
              <p:nvPr/>
            </p:nvGrpSpPr>
            <p:grpSpPr bwMode="auto">
              <a:xfrm>
                <a:off x="0" y="192"/>
                <a:ext cx="5760" cy="4032"/>
                <a:chOff x="0" y="192"/>
                <a:chExt cx="5760" cy="4032"/>
              </a:xfrm>
            </p:grpSpPr>
            <p:sp>
              <p:nvSpPr>
                <p:cNvPr id="1070" name="Line 1029"/>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1" name="Line 1030"/>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2" name="Line 1031"/>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3" name="Line 1032"/>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4" name="Line 1033"/>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5" name="Line 1034"/>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6" name="Line 1035"/>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7" name="Line 1036"/>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8" name="Line 1037"/>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79" name="Line 1038"/>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0" name="Line 1039"/>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1" name="Line 1040"/>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2" name="Line 1041"/>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3" name="Line 1042"/>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4" name="Line 1043"/>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5" name="Line 1044"/>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6" name="Line 1045"/>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7" name="Line 1046"/>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8" name="Line 1047"/>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89" name="Line 1048"/>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90" name="Line 1049"/>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91" name="Line 1050"/>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grpSp>
            <p:nvGrpSpPr>
              <p:cNvPr id="1040" name="Group 1051"/>
              <p:cNvGrpSpPr>
                <a:grpSpLocks/>
              </p:cNvGrpSpPr>
              <p:nvPr/>
            </p:nvGrpSpPr>
            <p:grpSpPr bwMode="auto">
              <a:xfrm>
                <a:off x="192" y="0"/>
                <a:ext cx="5376" cy="4320"/>
                <a:chOff x="192" y="0"/>
                <a:chExt cx="5376" cy="4320"/>
              </a:xfrm>
            </p:grpSpPr>
            <p:sp>
              <p:nvSpPr>
                <p:cNvPr id="1041"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2"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3"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4"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5"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6"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7"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8"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49"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0"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1"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2"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3"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4"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5"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6"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7"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8"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59"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0"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1"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2"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3"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4"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5"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6"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7"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8"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69"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grpSp>
        <p:sp>
          <p:nvSpPr>
            <p:cNvPr id="1033" name="Rectangle 1081" descr="60%"/>
            <p:cNvSpPr>
              <a:spLocks noChangeArrowheads="1"/>
            </p:cNvSpPr>
            <p:nvPr/>
          </p:nvSpPr>
          <p:spPr bwMode="ltGray">
            <a:xfrm>
              <a:off x="2112" y="0"/>
              <a:ext cx="3648" cy="96"/>
            </a:xfrm>
            <a:prstGeom prst="rect">
              <a:avLst/>
            </a:prstGeom>
            <a:blipFill dpi="0" rotWithShape="0">
              <a:blip r:embed="rId1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800"/>
            </a:p>
          </p:txBody>
        </p:sp>
        <p:sp>
          <p:nvSpPr>
            <p:cNvPr id="1034" name="Line 1082"/>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grpSp>
          <p:nvGrpSpPr>
            <p:cNvPr id="1035" name="Group 1083"/>
            <p:cNvGrpSpPr>
              <a:grpSpLocks/>
            </p:cNvGrpSpPr>
            <p:nvPr/>
          </p:nvGrpSpPr>
          <p:grpSpPr bwMode="auto">
            <a:xfrm>
              <a:off x="261" y="892"/>
              <a:ext cx="1124" cy="1464"/>
              <a:chOff x="96" y="916"/>
              <a:chExt cx="2208" cy="2876"/>
            </a:xfrm>
          </p:grpSpPr>
          <p:sp>
            <p:nvSpPr>
              <p:cNvPr id="1036" name="Line 1084"/>
              <p:cNvSpPr>
                <a:spLocks noChangeShapeType="1"/>
              </p:cNvSpPr>
              <p:nvPr/>
            </p:nvSpPr>
            <p:spPr bwMode="ltGray">
              <a:xfrm flipH="1">
                <a:off x="96" y="1037"/>
                <a:ext cx="22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37" name="Line 1085"/>
              <p:cNvSpPr>
                <a:spLocks noChangeShapeType="1"/>
              </p:cNvSpPr>
              <p:nvPr/>
            </p:nvSpPr>
            <p:spPr bwMode="ltGray">
              <a:xfrm>
                <a:off x="336" y="920"/>
                <a:ext cx="0" cy="287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1038" name="Arc 1086"/>
              <p:cNvSpPr>
                <a:spLocks/>
              </p:cNvSpPr>
              <p:nvPr/>
            </p:nvSpPr>
            <p:spPr bwMode="ltGray">
              <a:xfrm flipH="1">
                <a:off x="217" y="916"/>
                <a:ext cx="239" cy="239"/>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grpSp>
      </p:grpSp>
      <p:sp>
        <p:nvSpPr>
          <p:cNvPr id="1027" name="Rectangle 1087"/>
          <p:cNvSpPr>
            <a:spLocks noGrp="1" noChangeArrowheads="1"/>
          </p:cNvSpPr>
          <p:nvPr>
            <p:ph type="title"/>
          </p:nvPr>
        </p:nvSpPr>
        <p:spPr bwMode="auto">
          <a:xfrm>
            <a:off x="812800" y="3048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1088" descr="Rectangle: Click to edit Master text styles&#10;Second level&#10;Third level&#10;Fourth level&#10;Fifth level"/>
          <p:cNvSpPr>
            <a:spLocks noGrp="1" noChangeArrowheads="1"/>
          </p:cNvSpPr>
          <p:nvPr>
            <p:ph type="body" idx="1"/>
          </p:nvPr>
        </p:nvSpPr>
        <p:spPr bwMode="auto">
          <a:xfrm>
            <a:off x="1117600" y="19050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9761" name="Rectangle 1089"/>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mn-lt"/>
              </a:defRPr>
            </a:lvl1pPr>
          </a:lstStyle>
          <a:p>
            <a:r>
              <a:rPr lang="en-US"/>
              <a:t>Dr. Kibuku R.</a:t>
            </a:r>
          </a:p>
        </p:txBody>
      </p:sp>
      <p:sp>
        <p:nvSpPr>
          <p:cNvPr id="29762" name="Rectangle 1090"/>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atin typeface="+mn-lt"/>
              </a:defRPr>
            </a:lvl1pPr>
          </a:lstStyle>
          <a:p>
            <a:r>
              <a:rPr lang="en-US"/>
              <a:t>Research Methods Intro</a:t>
            </a:r>
          </a:p>
        </p:txBody>
      </p:sp>
      <p:sp>
        <p:nvSpPr>
          <p:cNvPr id="29763" name="Rectangle 1091"/>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mn-lt"/>
              </a:defRPr>
            </a:lvl1pPr>
          </a:lstStyle>
          <a:p>
            <a:fld id="{B08ED41D-C7F6-4EC0-9638-8701CF9B9171}" type="slidenum">
              <a:rPr lang="en-US" smtClean="0"/>
              <a:t>‹#›</a:t>
            </a:fld>
            <a:endParaRPr lang="en-US"/>
          </a:p>
        </p:txBody>
      </p:sp>
    </p:spTree>
    <p:extLst>
      <p:ext uri="{BB962C8B-B14F-4D97-AF65-F5344CB8AC3E}">
        <p14:creationId xmlns:p14="http://schemas.microsoft.com/office/powerpoint/2010/main" val="296089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p:titleStyle>
    <p:bodyStyle>
      <a:lvl1pPr marL="342900" indent="-342900" algn="l" rtl="0" eaLnBrk="1" fontAlgn="base" hangingPunct="1">
        <a:spcBef>
          <a:spcPct val="20000"/>
        </a:spcBef>
        <a:spcAft>
          <a:spcPct val="0"/>
        </a:spcAft>
        <a:buClr>
          <a:schemeClr val="hlink"/>
        </a:buClr>
        <a:buSzPct val="110000"/>
        <a:buFont typeface="Wingdings" panose="05000000000000000000" pitchFamily="2" charset="2"/>
        <a:buChar char="w"/>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60000"/>
        <a:buFont typeface="Wingdings" panose="05000000000000000000" pitchFamily="2" charset="2"/>
        <a:buChar char="n"/>
        <a:defRPr sz="2800">
          <a:solidFill>
            <a:schemeClr val="tx1"/>
          </a:solidFill>
          <a:latin typeface="+mn-lt"/>
        </a:defRPr>
      </a:lvl2pPr>
      <a:lvl3pPr marL="1143000" indent="-228600" algn="l" rtl="0" eaLnBrk="1" fontAlgn="base" hangingPunct="1">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defRPr>
      </a:lvl3pPr>
      <a:lvl4pPr marL="1600200" indent="-228600" algn="l" rtl="0" eaLnBrk="1" fontAlgn="base" hangingPunct="1">
        <a:spcBef>
          <a:spcPct val="20000"/>
        </a:spcBef>
        <a:spcAft>
          <a:spcPct val="0"/>
        </a:spcAft>
        <a:buClr>
          <a:schemeClr val="tx1"/>
        </a:buClr>
        <a:buSzPct val="65000"/>
        <a:buFont typeface="Wingdings" panose="05000000000000000000" pitchFamily="2" charset="2"/>
        <a:buChar char="n"/>
        <a:defRPr sz="2000">
          <a:solidFill>
            <a:schemeClr val="tx1"/>
          </a:solidFill>
          <a:latin typeface="+mn-lt"/>
        </a:defRPr>
      </a:lvl4pPr>
      <a:lvl5pPr marL="20574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eaLnBrk="1" fontAlgn="base" hangingPunct="1">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eaLnBrk="1" fontAlgn="base" hangingPunct="1">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eaLnBrk="1" fontAlgn="base" hangingPunct="1">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eaLnBrk="1" fontAlgn="base" hangingPunct="1">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4261" y="1752600"/>
            <a:ext cx="10082277" cy="815109"/>
          </a:xfrm>
        </p:spPr>
        <p:txBody>
          <a:bodyPr/>
          <a:lstStyle/>
          <a:p>
            <a:r>
              <a:rPr lang="en-US" sz="3600" b="1" dirty="0"/>
              <a:t>RESEARCH METHODS</a:t>
            </a:r>
          </a:p>
        </p:txBody>
      </p:sp>
      <p:sp>
        <p:nvSpPr>
          <p:cNvPr id="3" name="Subtitle 2"/>
          <p:cNvSpPr>
            <a:spLocks noGrp="1"/>
          </p:cNvSpPr>
          <p:nvPr>
            <p:ph type="subTitle" idx="1"/>
          </p:nvPr>
        </p:nvSpPr>
        <p:spPr>
          <a:xfrm>
            <a:off x="2364509" y="3734811"/>
            <a:ext cx="8534400" cy="1752600"/>
          </a:xfrm>
        </p:spPr>
        <p:txBody>
          <a:bodyPr/>
          <a:lstStyle/>
          <a:p>
            <a:endParaRPr lang="en-US" dirty="0"/>
          </a:p>
          <a:p>
            <a:pPr algn="ctr">
              <a:lnSpc>
                <a:spcPct val="90000"/>
              </a:lnSpc>
            </a:pPr>
            <a:r>
              <a:rPr lang="en-US" altLang="en-US" sz="2800" b="1" dirty="0"/>
              <a:t>INTRODUCTION</a:t>
            </a:r>
            <a:endParaRPr lang="en-US" altLang="en-US" b="1" dirty="0"/>
          </a:p>
          <a:p>
            <a:pPr algn="ctr">
              <a:lnSpc>
                <a:spcPct val="90000"/>
              </a:lnSpc>
            </a:pPr>
            <a:r>
              <a:rPr lang="en-US" altLang="en-US" b="1" dirty="0"/>
              <a:t> </a:t>
            </a:r>
          </a:p>
        </p:txBody>
      </p:sp>
      <p:sp>
        <p:nvSpPr>
          <p:cNvPr id="4" name="Date Placeholder 3">
            <a:extLst>
              <a:ext uri="{FF2B5EF4-FFF2-40B4-BE49-F238E27FC236}">
                <a16:creationId xmlns:a16="http://schemas.microsoft.com/office/drawing/2014/main" id="{B36CBD2D-14D5-07B4-382B-5C1079256DAE}"/>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Tree>
    <p:extLst>
      <p:ext uri="{BB962C8B-B14F-4D97-AF65-F5344CB8AC3E}">
        <p14:creationId xmlns:p14="http://schemas.microsoft.com/office/powerpoint/2010/main" val="139179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304800"/>
            <a:ext cx="10363200" cy="572655"/>
          </a:xfrm>
        </p:spPr>
        <p:txBody>
          <a:bodyPr/>
          <a:lstStyle/>
          <a:p>
            <a:pPr algn="ctr"/>
            <a:r>
              <a:rPr lang="en-US" sz="3200" b="1" dirty="0"/>
              <a:t>OVERVIEW </a:t>
            </a:r>
          </a:p>
        </p:txBody>
      </p:sp>
      <p:sp>
        <p:nvSpPr>
          <p:cNvPr id="3" name="Content Placeholder 2"/>
          <p:cNvSpPr>
            <a:spLocks noGrp="1"/>
          </p:cNvSpPr>
          <p:nvPr>
            <p:ph idx="1"/>
          </p:nvPr>
        </p:nvSpPr>
        <p:spPr>
          <a:xfrm>
            <a:off x="988290" y="1627909"/>
            <a:ext cx="6326909" cy="4114800"/>
          </a:xfrm>
        </p:spPr>
        <p:txBody>
          <a:bodyPr/>
          <a:lstStyle/>
          <a:p>
            <a:r>
              <a:rPr lang="en-US" sz="2400" b="1" dirty="0">
                <a:solidFill>
                  <a:srgbClr val="0070C0"/>
                </a:solidFill>
              </a:rPr>
              <a:t>Topics Covered</a:t>
            </a:r>
          </a:p>
          <a:p>
            <a:pPr lvl="1"/>
            <a:r>
              <a:rPr lang="en-US" sz="2400" dirty="0"/>
              <a:t>Types of Research &amp; their Purpose</a:t>
            </a:r>
            <a:endParaRPr lang="en-US" sz="2400" b="1" i="1" dirty="0"/>
          </a:p>
        </p:txBody>
      </p:sp>
      <p:pic>
        <p:nvPicPr>
          <p:cNvPr id="4" name="Picture 3"/>
          <p:cNvPicPr>
            <a:picLocks noChangeAspect="1"/>
          </p:cNvPicPr>
          <p:nvPr/>
        </p:nvPicPr>
        <p:blipFill>
          <a:blip r:embed="rId2"/>
          <a:stretch>
            <a:fillRect/>
          </a:stretch>
        </p:blipFill>
        <p:spPr>
          <a:xfrm>
            <a:off x="7379855" y="1627909"/>
            <a:ext cx="3897745" cy="3506066"/>
          </a:xfrm>
          <a:prstGeom prst="rect">
            <a:avLst/>
          </a:prstGeom>
        </p:spPr>
      </p:pic>
      <p:sp>
        <p:nvSpPr>
          <p:cNvPr id="6" name="Footer Placeholder 5"/>
          <p:cNvSpPr>
            <a:spLocks noGrp="1"/>
          </p:cNvSpPr>
          <p:nvPr>
            <p:ph type="ftr" sz="quarter" idx="11"/>
          </p:nvPr>
        </p:nvSpPr>
        <p:spPr>
          <a:xfrm>
            <a:off x="3740727" y="6264563"/>
            <a:ext cx="3860800" cy="457200"/>
          </a:xfrm>
        </p:spPr>
        <p:txBody>
          <a:bodyPr/>
          <a:lstStyle/>
          <a:p>
            <a:r>
              <a:rPr lang="en-US" dirty="0"/>
              <a:t>Research Methods Intro</a:t>
            </a:r>
          </a:p>
        </p:txBody>
      </p:sp>
      <p:sp>
        <p:nvSpPr>
          <p:cNvPr id="7" name="Slide Number Placeholder 6"/>
          <p:cNvSpPr>
            <a:spLocks noGrp="1"/>
          </p:cNvSpPr>
          <p:nvPr>
            <p:ph type="sldNum" sz="quarter" idx="12"/>
          </p:nvPr>
        </p:nvSpPr>
        <p:spPr/>
        <p:txBody>
          <a:bodyPr/>
          <a:lstStyle/>
          <a:p>
            <a:fld id="{B08ED41D-C7F6-4EC0-9638-8701CF9B9171}" type="slidenum">
              <a:rPr lang="en-US" smtClean="0"/>
              <a:t>2</a:t>
            </a:fld>
            <a:endParaRPr lang="en-US"/>
          </a:p>
        </p:txBody>
      </p:sp>
      <p:sp>
        <p:nvSpPr>
          <p:cNvPr id="5" name="Date Placeholder 3">
            <a:extLst>
              <a:ext uri="{FF2B5EF4-FFF2-40B4-BE49-F238E27FC236}">
                <a16:creationId xmlns:a16="http://schemas.microsoft.com/office/drawing/2014/main" id="{B6F38141-A777-9F39-14EE-54EFA87D6B8E}"/>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Tree>
    <p:extLst>
      <p:ext uri="{BB962C8B-B14F-4D97-AF65-F5344CB8AC3E}">
        <p14:creationId xmlns:p14="http://schemas.microsoft.com/office/powerpoint/2010/main" val="22166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3</a:t>
            </a:fld>
            <a:endParaRPr lang="en-US" altLang="en-US" sz="1200">
              <a:latin typeface="Arial Black" panose="020B0A04020102020204" pitchFamily="34" charset="0"/>
            </a:endParaRPr>
          </a:p>
        </p:txBody>
      </p:sp>
      <p:sp>
        <p:nvSpPr>
          <p:cNvPr id="10245" name="Rectangle 2"/>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p:cNvSpPr>
            <a:spLocks noGrp="1" noChangeArrowheads="1"/>
          </p:cNvSpPr>
          <p:nvPr>
            <p:ph type="body" idx="1"/>
          </p:nvPr>
        </p:nvSpPr>
        <p:spPr>
          <a:xfrm>
            <a:off x="1025236" y="1638299"/>
            <a:ext cx="10482586" cy="4507927"/>
          </a:xfrm>
        </p:spPr>
        <p:txBody>
          <a:bodyPr/>
          <a:lstStyle/>
          <a:p>
            <a:pPr>
              <a:lnSpc>
                <a:spcPct val="90000"/>
              </a:lnSpc>
            </a:pPr>
            <a:r>
              <a:rPr lang="en-US" altLang="en-US" sz="2400" dirty="0">
                <a:solidFill>
                  <a:schemeClr val="bg2">
                    <a:lumMod val="50000"/>
                  </a:schemeClr>
                </a:solidFill>
              </a:rPr>
              <a:t>Empirical Research</a:t>
            </a:r>
          </a:p>
          <a:p>
            <a:pPr>
              <a:lnSpc>
                <a:spcPct val="90000"/>
              </a:lnSpc>
            </a:pPr>
            <a:r>
              <a:rPr lang="en-US" altLang="en-US" sz="2400" dirty="0">
                <a:solidFill>
                  <a:schemeClr val="bg2">
                    <a:lumMod val="50000"/>
                  </a:schemeClr>
                </a:solidFill>
              </a:rPr>
              <a:t>Conceptual Research</a:t>
            </a:r>
          </a:p>
          <a:p>
            <a:pPr>
              <a:lnSpc>
                <a:spcPct val="90000"/>
              </a:lnSpc>
            </a:pPr>
            <a:r>
              <a:rPr lang="en-US" altLang="en-US" sz="2400" dirty="0">
                <a:solidFill>
                  <a:schemeClr val="accent1"/>
                </a:solidFill>
              </a:rPr>
              <a:t>Diagnostic Research</a:t>
            </a:r>
          </a:p>
          <a:p>
            <a:pPr>
              <a:lnSpc>
                <a:spcPct val="90000"/>
              </a:lnSpc>
            </a:pPr>
            <a:r>
              <a:rPr lang="en-US" altLang="en-US" sz="2400" dirty="0">
                <a:solidFill>
                  <a:schemeClr val="accent1"/>
                </a:solidFill>
              </a:rPr>
              <a:t>Historical Research</a:t>
            </a:r>
          </a:p>
          <a:p>
            <a:pPr>
              <a:lnSpc>
                <a:spcPct val="90000"/>
              </a:lnSpc>
            </a:pPr>
            <a:r>
              <a:rPr lang="en-US" altLang="en-US" sz="2400" dirty="0">
                <a:solidFill>
                  <a:schemeClr val="bg2">
                    <a:lumMod val="50000"/>
                  </a:schemeClr>
                </a:solidFill>
              </a:rPr>
              <a:t>Simulation Research</a:t>
            </a:r>
          </a:p>
          <a:p>
            <a:pPr>
              <a:lnSpc>
                <a:spcPct val="90000"/>
              </a:lnSpc>
            </a:pPr>
            <a:r>
              <a:rPr lang="en-US" altLang="en-US" sz="2400" dirty="0">
                <a:solidFill>
                  <a:schemeClr val="accent1"/>
                </a:solidFill>
              </a:rPr>
              <a:t>One-time Research</a:t>
            </a:r>
          </a:p>
          <a:p>
            <a:pPr>
              <a:lnSpc>
                <a:spcPct val="90000"/>
              </a:lnSpc>
            </a:pPr>
            <a:r>
              <a:rPr lang="en-US" altLang="en-US" sz="2400" dirty="0">
                <a:solidFill>
                  <a:schemeClr val="bg2">
                    <a:lumMod val="50000"/>
                  </a:schemeClr>
                </a:solidFill>
              </a:rPr>
              <a:t>Longitudinal Research</a:t>
            </a:r>
          </a:p>
          <a:p>
            <a:pPr>
              <a:lnSpc>
                <a:spcPct val="90000"/>
              </a:lnSpc>
            </a:pPr>
            <a:r>
              <a:rPr lang="en-US" altLang="en-US" sz="2400" dirty="0">
                <a:solidFill>
                  <a:schemeClr val="accent1"/>
                </a:solidFill>
              </a:rPr>
              <a:t>Descriptive Research</a:t>
            </a:r>
          </a:p>
          <a:p>
            <a:pPr>
              <a:lnSpc>
                <a:spcPct val="90000"/>
              </a:lnSpc>
            </a:pPr>
            <a:r>
              <a:rPr lang="en-US" altLang="en-US" sz="2400" dirty="0">
                <a:solidFill>
                  <a:schemeClr val="accent1"/>
                </a:solidFill>
              </a:rPr>
              <a:t>Analytical Research</a:t>
            </a:r>
          </a:p>
          <a:p>
            <a:pPr>
              <a:lnSpc>
                <a:spcPct val="90000"/>
              </a:lnSpc>
            </a:pPr>
            <a:r>
              <a:rPr lang="en-US" altLang="en-US" sz="2400" dirty="0">
                <a:solidFill>
                  <a:schemeClr val="bg2">
                    <a:lumMod val="50000"/>
                  </a:schemeClr>
                </a:solidFill>
              </a:rPr>
              <a:t>Hypothesis-Testing Research</a:t>
            </a:r>
          </a:p>
          <a:p>
            <a:pPr>
              <a:lnSpc>
                <a:spcPct val="90000"/>
              </a:lnSpc>
            </a:pPr>
            <a:r>
              <a:rPr lang="en-US" altLang="en-US" sz="2400" dirty="0">
                <a:solidFill>
                  <a:srgbClr val="FF0000"/>
                </a:solidFill>
              </a:rPr>
              <a:t>Problem-Solving Research</a:t>
            </a:r>
          </a:p>
        </p:txBody>
      </p:sp>
      <p:sp>
        <p:nvSpPr>
          <p:cNvPr id="2" name="Date Placeholder 3">
            <a:extLst>
              <a:ext uri="{FF2B5EF4-FFF2-40B4-BE49-F238E27FC236}">
                <a16:creationId xmlns:a16="http://schemas.microsoft.com/office/drawing/2014/main" id="{A6292368-8B19-32C1-7174-8470FCD7AD4C}"/>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Tree>
    <p:extLst>
      <p:ext uri="{BB962C8B-B14F-4D97-AF65-F5344CB8AC3E}">
        <p14:creationId xmlns:p14="http://schemas.microsoft.com/office/powerpoint/2010/main" val="10841499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B032C-D34E-0978-0A73-A56C0781A83E}"/>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D45792ED-B433-5A01-49B7-972F4675E9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2FD1E3A4-57F5-92AA-846D-BD9503BF59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4</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B69F9198-D18E-112B-4428-7D5F7F60E826}"/>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BA051077-2748-C7CA-7F0A-826E339DE540}"/>
              </a:ext>
            </a:extLst>
          </p:cNvPr>
          <p:cNvSpPr>
            <a:spLocks noGrp="1" noChangeArrowheads="1"/>
          </p:cNvSpPr>
          <p:nvPr>
            <p:ph type="body" idx="1"/>
          </p:nvPr>
        </p:nvSpPr>
        <p:spPr>
          <a:xfrm>
            <a:off x="1025236" y="1898937"/>
            <a:ext cx="10482586" cy="4247289"/>
          </a:xfrm>
        </p:spPr>
        <p:txBody>
          <a:bodyPr/>
          <a:lstStyle/>
          <a:p>
            <a:pPr>
              <a:lnSpc>
                <a:spcPct val="90000"/>
              </a:lnSpc>
            </a:pPr>
            <a:r>
              <a:rPr lang="en-US" altLang="en-US" sz="2300" dirty="0"/>
              <a:t>Investigating facts with the view of supplying Scientific or Mathematical evidence to the studied phenomenon</a:t>
            </a:r>
          </a:p>
          <a:p>
            <a:pPr>
              <a:lnSpc>
                <a:spcPct val="90000"/>
              </a:lnSpc>
            </a:pPr>
            <a:r>
              <a:rPr lang="en-US" altLang="en-US" sz="2300" dirty="0">
                <a:solidFill>
                  <a:schemeClr val="bg2">
                    <a:lumMod val="50000"/>
                  </a:schemeClr>
                </a:solidFill>
              </a:rPr>
              <a:t>Researches mostly conducted in the scientific, mathematical and technological fields – practical testing of facts</a:t>
            </a:r>
          </a:p>
          <a:p>
            <a:pPr>
              <a:lnSpc>
                <a:spcPct val="90000"/>
              </a:lnSpc>
            </a:pPr>
            <a:r>
              <a:rPr lang="en-US" altLang="en-US" sz="2300" dirty="0">
                <a:solidFill>
                  <a:schemeClr val="bg2">
                    <a:lumMod val="50000"/>
                  </a:schemeClr>
                </a:solidFill>
              </a:rPr>
              <a:t>It is an empirical research if it provides hardcore, tangible, provable, testable evidence e.g. quantitative conclusions (numbers)</a:t>
            </a:r>
          </a:p>
          <a:p>
            <a:pPr>
              <a:lnSpc>
                <a:spcPct val="90000"/>
              </a:lnSpc>
            </a:pPr>
            <a:r>
              <a:rPr lang="en-US" altLang="en-US" sz="2300" dirty="0">
                <a:solidFill>
                  <a:schemeClr val="bg2">
                    <a:lumMod val="50000"/>
                  </a:schemeClr>
                </a:solidFill>
              </a:rPr>
              <a:t>Examples:</a:t>
            </a:r>
          </a:p>
          <a:p>
            <a:pPr lvl="1">
              <a:lnSpc>
                <a:spcPct val="90000"/>
              </a:lnSpc>
            </a:pPr>
            <a:r>
              <a:rPr lang="en-US" altLang="en-US" sz="2300" dirty="0">
                <a:solidFill>
                  <a:schemeClr val="bg2">
                    <a:lumMod val="50000"/>
                  </a:schemeClr>
                </a:solidFill>
              </a:rPr>
              <a:t>A research conducted by an online shopping company geared to arrive to the numbers of people that keep items in their cart but never check out.</a:t>
            </a:r>
          </a:p>
          <a:p>
            <a:pPr lvl="2">
              <a:lnSpc>
                <a:spcPct val="90000"/>
              </a:lnSpc>
            </a:pPr>
            <a:r>
              <a:rPr lang="en-US" altLang="en-US" sz="2300" dirty="0">
                <a:solidFill>
                  <a:schemeClr val="bg2">
                    <a:lumMod val="50000"/>
                  </a:schemeClr>
                </a:solidFill>
              </a:rPr>
              <a:t>Evidence: system timestamps, system activity logs, purchase drop out numbers from the system database</a:t>
            </a:r>
          </a:p>
          <a:p>
            <a:pPr lvl="1">
              <a:lnSpc>
                <a:spcPct val="90000"/>
              </a:lnSpc>
            </a:pPr>
            <a:endParaRPr lang="en-US" altLang="en-US" sz="2300" dirty="0"/>
          </a:p>
        </p:txBody>
      </p:sp>
      <p:sp>
        <p:nvSpPr>
          <p:cNvPr id="2" name="Date Placeholder 3">
            <a:extLst>
              <a:ext uri="{FF2B5EF4-FFF2-40B4-BE49-F238E27FC236}">
                <a16:creationId xmlns:a16="http://schemas.microsoft.com/office/drawing/2014/main" id="{7E311A68-BD4B-0EFE-4B9F-2CA7E0813DAA}"/>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FDB2495D-C281-E08C-DCB8-CC46118BBC00}"/>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1. Empirical Research</a:t>
            </a:r>
          </a:p>
        </p:txBody>
      </p:sp>
    </p:spTree>
    <p:extLst>
      <p:ext uri="{BB962C8B-B14F-4D97-AF65-F5344CB8AC3E}">
        <p14:creationId xmlns:p14="http://schemas.microsoft.com/office/powerpoint/2010/main" val="15389557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B4B34-E496-E5A3-EB8A-61EA4A6B6C4B}"/>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A30DB53D-0CF5-76FD-6A61-C6B59A0F5E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B13D3DEE-7FD6-F7A2-9542-781BEBF772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5</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A922DD91-15DA-204D-7EA6-065C0F024647}"/>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C08B81EA-9B64-5822-8659-2BAAC6740CE6}"/>
              </a:ext>
            </a:extLst>
          </p:cNvPr>
          <p:cNvSpPr>
            <a:spLocks noGrp="1" noChangeArrowheads="1"/>
          </p:cNvSpPr>
          <p:nvPr>
            <p:ph type="body" idx="1"/>
          </p:nvPr>
        </p:nvSpPr>
        <p:spPr>
          <a:xfrm>
            <a:off x="1025236" y="1847850"/>
            <a:ext cx="10482586" cy="4298377"/>
          </a:xfrm>
        </p:spPr>
        <p:txBody>
          <a:bodyPr/>
          <a:lstStyle/>
          <a:p>
            <a:pPr>
              <a:lnSpc>
                <a:spcPct val="90000"/>
              </a:lnSpc>
            </a:pPr>
            <a:r>
              <a:rPr lang="en-US" altLang="en-US" sz="2300" dirty="0"/>
              <a:t>Investigating or supplying concepts or phenomena that are hardly scientifically testable/provable</a:t>
            </a:r>
          </a:p>
          <a:p>
            <a:pPr>
              <a:lnSpc>
                <a:spcPct val="90000"/>
              </a:lnSpc>
            </a:pPr>
            <a:r>
              <a:rPr lang="en-US" altLang="en-US" sz="2300" dirty="0">
                <a:solidFill>
                  <a:schemeClr val="bg2">
                    <a:lumMod val="50000"/>
                  </a:schemeClr>
                </a:solidFill>
              </a:rPr>
              <a:t>Normally performed in fields like: social sciences, human behavioral sciences, psychology, religion, etc.</a:t>
            </a:r>
          </a:p>
          <a:p>
            <a:pPr lvl="1">
              <a:lnSpc>
                <a:spcPct val="90000"/>
              </a:lnSpc>
            </a:pPr>
            <a:r>
              <a:rPr lang="en-US" altLang="en-US" sz="2300" dirty="0">
                <a:solidFill>
                  <a:schemeClr val="bg2">
                    <a:lumMod val="50000"/>
                  </a:schemeClr>
                </a:solidFill>
              </a:rPr>
              <a:t>Generally human sciences</a:t>
            </a:r>
          </a:p>
          <a:p>
            <a:pPr>
              <a:lnSpc>
                <a:spcPct val="90000"/>
              </a:lnSpc>
            </a:pPr>
            <a:r>
              <a:rPr lang="en-US" altLang="en-US" sz="2300" dirty="0">
                <a:solidFill>
                  <a:schemeClr val="bg2">
                    <a:lumMod val="50000"/>
                  </a:schemeClr>
                </a:solidFill>
              </a:rPr>
              <a:t>Qualitative findings: </a:t>
            </a:r>
          </a:p>
          <a:p>
            <a:pPr lvl="1">
              <a:lnSpc>
                <a:spcPct val="90000"/>
              </a:lnSpc>
            </a:pPr>
            <a:r>
              <a:rPr lang="en-US" altLang="en-US" sz="2300" dirty="0">
                <a:solidFill>
                  <a:schemeClr val="bg2">
                    <a:lumMod val="50000"/>
                  </a:schemeClr>
                </a:solidFill>
              </a:rPr>
              <a:t>facts derived from different people’s opinions, stories, experiences told, etc.</a:t>
            </a:r>
          </a:p>
          <a:p>
            <a:pPr>
              <a:lnSpc>
                <a:spcPct val="90000"/>
              </a:lnSpc>
            </a:pPr>
            <a:r>
              <a:rPr lang="en-US" altLang="en-US" sz="2300" dirty="0">
                <a:solidFill>
                  <a:schemeClr val="bg2">
                    <a:lumMod val="50000"/>
                  </a:schemeClr>
                </a:solidFill>
              </a:rPr>
              <a:t>The findings of these research tend to bend every time the research is conducted because of the volatility and dynamism of human behavior – human behavior changes based on certain triggers</a:t>
            </a:r>
          </a:p>
          <a:p>
            <a:pPr>
              <a:lnSpc>
                <a:spcPct val="90000"/>
              </a:lnSpc>
            </a:pPr>
            <a:r>
              <a:rPr lang="en-US" altLang="en-US" sz="2300" dirty="0">
                <a:solidFill>
                  <a:schemeClr val="bg2">
                    <a:lumMod val="50000"/>
                  </a:schemeClr>
                </a:solidFill>
              </a:rPr>
              <a:t>Their evidence is not treated as hardcore, but progressive</a:t>
            </a:r>
          </a:p>
        </p:txBody>
      </p:sp>
      <p:sp>
        <p:nvSpPr>
          <p:cNvPr id="2" name="Date Placeholder 3">
            <a:extLst>
              <a:ext uri="{FF2B5EF4-FFF2-40B4-BE49-F238E27FC236}">
                <a16:creationId xmlns:a16="http://schemas.microsoft.com/office/drawing/2014/main" id="{3168A82E-EC88-94E1-1CC2-76A8F8AAEF12}"/>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9FFB84FD-2DB4-E2A1-31BD-4AD3E495D107}"/>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2. Conceptual Research</a:t>
            </a:r>
          </a:p>
        </p:txBody>
      </p:sp>
    </p:spTree>
    <p:extLst>
      <p:ext uri="{BB962C8B-B14F-4D97-AF65-F5344CB8AC3E}">
        <p14:creationId xmlns:p14="http://schemas.microsoft.com/office/powerpoint/2010/main" val="154184507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80516-F82E-B377-7503-F472149DC0D2}"/>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C7624AB7-5640-4E2B-1DCD-6538A237E82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BC0779A4-F1DA-0D68-74C3-8FE8B794E5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6</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95DD3C8E-A20E-45D4-0FCB-B073F67FA8B2}"/>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9DB87DFA-AA49-9A18-2F3E-A55D62CC926F}"/>
              </a:ext>
            </a:extLst>
          </p:cNvPr>
          <p:cNvSpPr>
            <a:spLocks noGrp="1" noChangeArrowheads="1"/>
          </p:cNvSpPr>
          <p:nvPr>
            <p:ph type="body" idx="1"/>
          </p:nvPr>
        </p:nvSpPr>
        <p:spPr>
          <a:xfrm>
            <a:off x="1025236" y="1898937"/>
            <a:ext cx="10482586" cy="4247289"/>
          </a:xfrm>
        </p:spPr>
        <p:txBody>
          <a:bodyPr/>
          <a:lstStyle/>
          <a:p>
            <a:pPr>
              <a:lnSpc>
                <a:spcPct val="90000"/>
              </a:lnSpc>
            </a:pPr>
            <a:r>
              <a:rPr lang="en-US" altLang="en-US" sz="2400" dirty="0"/>
              <a:t>Diagnostic research is conducted to investigate the root cause of a problem</a:t>
            </a:r>
          </a:p>
          <a:p>
            <a:pPr>
              <a:lnSpc>
                <a:spcPct val="90000"/>
              </a:lnSpc>
            </a:pPr>
            <a:r>
              <a:rPr lang="en-US" altLang="en-US" sz="2400" dirty="0"/>
              <a:t>There is already a problem identified</a:t>
            </a:r>
          </a:p>
          <a:p>
            <a:pPr>
              <a:lnSpc>
                <a:spcPct val="90000"/>
              </a:lnSpc>
            </a:pPr>
            <a:r>
              <a:rPr lang="en-US" altLang="en-US" sz="2400" dirty="0"/>
              <a:t>Examples:</a:t>
            </a:r>
          </a:p>
          <a:p>
            <a:pPr lvl="1">
              <a:lnSpc>
                <a:spcPct val="90000"/>
              </a:lnSpc>
            </a:pPr>
            <a:r>
              <a:rPr lang="en-US" altLang="en-US" sz="2400" dirty="0"/>
              <a:t>Computer diagnostics – a company’s network has been hacked, and a team of I.T. practitioners are tasked to investigate the cause of the hack.</a:t>
            </a:r>
          </a:p>
          <a:p>
            <a:pPr>
              <a:lnSpc>
                <a:spcPct val="90000"/>
              </a:lnSpc>
            </a:pPr>
            <a:r>
              <a:rPr lang="en-US" altLang="en-US" sz="2400" dirty="0"/>
              <a:t>The findings of a diagnostic research is a detailed explanation of the root of the problem and most times a recommendation for solutions</a:t>
            </a:r>
          </a:p>
        </p:txBody>
      </p:sp>
      <p:sp>
        <p:nvSpPr>
          <p:cNvPr id="2" name="Date Placeholder 3">
            <a:extLst>
              <a:ext uri="{FF2B5EF4-FFF2-40B4-BE49-F238E27FC236}">
                <a16:creationId xmlns:a16="http://schemas.microsoft.com/office/drawing/2014/main" id="{ED7E24E8-D7A2-35E2-B648-F94AA2C53BB2}"/>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4FAD1D3D-A580-5577-BEC8-AA9C1FEBBF72}"/>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3. Diagnostic Research</a:t>
            </a:r>
          </a:p>
        </p:txBody>
      </p:sp>
    </p:spTree>
    <p:extLst>
      <p:ext uri="{BB962C8B-B14F-4D97-AF65-F5344CB8AC3E}">
        <p14:creationId xmlns:p14="http://schemas.microsoft.com/office/powerpoint/2010/main" val="308127597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2F42-9004-8A4C-E392-8676D78064A8}"/>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50845977-EACE-D043-EF3E-257B6A464F1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131164FE-2E98-FE65-FC09-CB37DCD0FA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7</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8A4DE2A7-9EBE-A1DE-94EA-4A70E90D2FF3}"/>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4EA1EFAC-FF0A-4EDE-6E6D-D99A70BC4F74}"/>
              </a:ext>
            </a:extLst>
          </p:cNvPr>
          <p:cNvSpPr>
            <a:spLocks noGrp="1" noChangeArrowheads="1"/>
          </p:cNvSpPr>
          <p:nvPr>
            <p:ph type="body" idx="1"/>
          </p:nvPr>
        </p:nvSpPr>
        <p:spPr>
          <a:xfrm>
            <a:off x="1025236" y="1898937"/>
            <a:ext cx="10482586" cy="4247289"/>
          </a:xfrm>
        </p:spPr>
        <p:txBody>
          <a:bodyPr/>
          <a:lstStyle/>
          <a:p>
            <a:pPr>
              <a:lnSpc>
                <a:spcPct val="90000"/>
              </a:lnSpc>
            </a:pPr>
            <a:r>
              <a:rPr lang="en-US" altLang="en-US" sz="2600" dirty="0"/>
              <a:t>Done to investigate the events of history</a:t>
            </a:r>
          </a:p>
          <a:p>
            <a:pPr>
              <a:lnSpc>
                <a:spcPct val="90000"/>
              </a:lnSpc>
            </a:pPr>
            <a:r>
              <a:rPr lang="en-US" altLang="en-US" sz="2600" dirty="0"/>
              <a:t>Examples:</a:t>
            </a:r>
          </a:p>
          <a:p>
            <a:pPr lvl="1">
              <a:lnSpc>
                <a:spcPct val="90000"/>
              </a:lnSpc>
            </a:pPr>
            <a:r>
              <a:rPr lang="en-US" altLang="en-US" sz="2600" dirty="0"/>
              <a:t>The history of computer programming, history of artificial intelligence, history of Operating Systems, history of mobile telecommunication technology</a:t>
            </a:r>
          </a:p>
          <a:p>
            <a:pPr>
              <a:lnSpc>
                <a:spcPct val="90000"/>
              </a:lnSpc>
            </a:pPr>
            <a:r>
              <a:rPr lang="en-US" altLang="en-US" sz="2600" dirty="0"/>
              <a:t>Often done with an intention to understand things in the past to inform how we will do things in the present</a:t>
            </a:r>
          </a:p>
        </p:txBody>
      </p:sp>
      <p:sp>
        <p:nvSpPr>
          <p:cNvPr id="2" name="Date Placeholder 3">
            <a:extLst>
              <a:ext uri="{FF2B5EF4-FFF2-40B4-BE49-F238E27FC236}">
                <a16:creationId xmlns:a16="http://schemas.microsoft.com/office/drawing/2014/main" id="{9BED6356-4ECB-6B6E-4D0C-ED3DC1D8B4F0}"/>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836B5E47-EECD-3A49-5763-E0DA53F56E31}"/>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4. Historical Research</a:t>
            </a:r>
          </a:p>
        </p:txBody>
      </p:sp>
    </p:spTree>
    <p:extLst>
      <p:ext uri="{BB962C8B-B14F-4D97-AF65-F5344CB8AC3E}">
        <p14:creationId xmlns:p14="http://schemas.microsoft.com/office/powerpoint/2010/main" val="342485702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356A-239D-F1ED-FAFF-BB0AA521C1D3}"/>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57CF2791-BA5D-3642-BF26-A69DB2019C0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523AFEDD-1D6C-6F49-9280-01D3282EB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8</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2EDDF89B-8824-BD54-3ABF-CE16D6A9104F}"/>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4E1FE875-7EF9-32EC-FB60-77D0F7DB7FA0}"/>
              </a:ext>
            </a:extLst>
          </p:cNvPr>
          <p:cNvSpPr>
            <a:spLocks noGrp="1" noChangeArrowheads="1"/>
          </p:cNvSpPr>
          <p:nvPr>
            <p:ph type="body" idx="1"/>
          </p:nvPr>
        </p:nvSpPr>
        <p:spPr>
          <a:xfrm>
            <a:off x="1025236" y="1847850"/>
            <a:ext cx="10482586" cy="4349463"/>
          </a:xfrm>
        </p:spPr>
        <p:txBody>
          <a:bodyPr/>
          <a:lstStyle/>
          <a:p>
            <a:pPr>
              <a:lnSpc>
                <a:spcPct val="90000"/>
              </a:lnSpc>
            </a:pPr>
            <a:r>
              <a:rPr lang="en-US" altLang="en-US" sz="1900" dirty="0"/>
              <a:t>To simulate is to create a smaller, conceptually interactive small-scale version of reality in order to understand the larger actual reality</a:t>
            </a:r>
            <a:endParaRPr lang="en-US" altLang="en-US" sz="1900" dirty="0">
              <a:solidFill>
                <a:schemeClr val="bg2">
                  <a:lumMod val="50000"/>
                </a:schemeClr>
              </a:solidFill>
            </a:endParaRPr>
          </a:p>
          <a:p>
            <a:pPr>
              <a:lnSpc>
                <a:spcPct val="90000"/>
              </a:lnSpc>
            </a:pPr>
            <a:r>
              <a:rPr lang="en-US" altLang="en-US" sz="1900" dirty="0">
                <a:solidFill>
                  <a:schemeClr val="bg2">
                    <a:lumMod val="50000"/>
                  </a:schemeClr>
                </a:solidFill>
              </a:rPr>
              <a:t>Simulation research is conducted with the aim of understanding a phenomenon in the real world by RECREATING that phenomenon in a safe, smaller-scale, controlled environment</a:t>
            </a:r>
          </a:p>
          <a:p>
            <a:pPr>
              <a:lnSpc>
                <a:spcPct val="90000"/>
              </a:lnSpc>
            </a:pPr>
            <a:r>
              <a:rPr lang="en-US" altLang="en-US" sz="1900" dirty="0">
                <a:solidFill>
                  <a:schemeClr val="bg2">
                    <a:lumMod val="50000"/>
                  </a:schemeClr>
                </a:solidFill>
              </a:rPr>
              <a:t>Why simulate: </a:t>
            </a:r>
          </a:p>
          <a:p>
            <a:pPr lvl="1">
              <a:lnSpc>
                <a:spcPct val="90000"/>
              </a:lnSpc>
            </a:pPr>
            <a:r>
              <a:rPr lang="en-US" altLang="en-US" sz="1900" dirty="0">
                <a:solidFill>
                  <a:schemeClr val="bg2">
                    <a:lumMod val="50000"/>
                  </a:schemeClr>
                </a:solidFill>
              </a:rPr>
              <a:t>Cost impact</a:t>
            </a:r>
          </a:p>
          <a:p>
            <a:pPr lvl="1">
              <a:lnSpc>
                <a:spcPct val="90000"/>
              </a:lnSpc>
            </a:pPr>
            <a:r>
              <a:rPr lang="en-US" altLang="en-US" sz="1900" dirty="0">
                <a:solidFill>
                  <a:schemeClr val="bg2">
                    <a:lumMod val="50000"/>
                  </a:schemeClr>
                </a:solidFill>
              </a:rPr>
              <a:t>Dangerous conditions</a:t>
            </a:r>
          </a:p>
          <a:p>
            <a:pPr lvl="1">
              <a:lnSpc>
                <a:spcPct val="90000"/>
              </a:lnSpc>
            </a:pPr>
            <a:r>
              <a:rPr lang="en-US" altLang="en-US" sz="1900" dirty="0">
                <a:solidFill>
                  <a:schemeClr val="bg2">
                    <a:lumMod val="50000"/>
                  </a:schemeClr>
                </a:solidFill>
              </a:rPr>
              <a:t>Disruptive</a:t>
            </a:r>
          </a:p>
          <a:p>
            <a:pPr lvl="1">
              <a:lnSpc>
                <a:spcPct val="90000"/>
              </a:lnSpc>
            </a:pPr>
            <a:r>
              <a:rPr lang="en-US" altLang="en-US" sz="1900" dirty="0">
                <a:solidFill>
                  <a:schemeClr val="bg2">
                    <a:lumMod val="50000"/>
                  </a:schemeClr>
                </a:solidFill>
              </a:rPr>
              <a:t>It is realistically impossible to test in a real-world phenomena e.g. astrophysics</a:t>
            </a:r>
          </a:p>
          <a:p>
            <a:pPr>
              <a:lnSpc>
                <a:spcPct val="90000"/>
              </a:lnSpc>
            </a:pPr>
            <a:r>
              <a:rPr lang="en-US" altLang="en-US" sz="1900" dirty="0">
                <a:solidFill>
                  <a:schemeClr val="bg2">
                    <a:lumMod val="50000"/>
                  </a:schemeClr>
                </a:solidFill>
              </a:rPr>
              <a:t>Examples:</a:t>
            </a:r>
          </a:p>
          <a:p>
            <a:pPr lvl="1">
              <a:lnSpc>
                <a:spcPct val="90000"/>
              </a:lnSpc>
            </a:pPr>
            <a:r>
              <a:rPr lang="en-US" altLang="en-US" sz="1900" dirty="0">
                <a:solidFill>
                  <a:schemeClr val="bg2">
                    <a:lumMod val="50000"/>
                  </a:schemeClr>
                </a:solidFill>
              </a:rPr>
              <a:t>A company developing cars wants to know how much damage can occur to their new car model on impact – they create a computer simulation with data about the real car and different impact zones and the simulated car is driven to the simulated impact zones and readings are taken</a:t>
            </a:r>
          </a:p>
        </p:txBody>
      </p:sp>
      <p:sp>
        <p:nvSpPr>
          <p:cNvPr id="2" name="Date Placeholder 3">
            <a:extLst>
              <a:ext uri="{FF2B5EF4-FFF2-40B4-BE49-F238E27FC236}">
                <a16:creationId xmlns:a16="http://schemas.microsoft.com/office/drawing/2014/main" id="{A34E0F0F-E0DD-4FF3-5E04-89C87E09DEA5}"/>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DA64F6E6-B6E2-2832-42BB-32037485903B}"/>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5. Simulation Research</a:t>
            </a:r>
          </a:p>
        </p:txBody>
      </p:sp>
    </p:spTree>
    <p:extLst>
      <p:ext uri="{BB962C8B-B14F-4D97-AF65-F5344CB8AC3E}">
        <p14:creationId xmlns:p14="http://schemas.microsoft.com/office/powerpoint/2010/main" val="44033045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8C65-B98C-358B-B261-0E8F8C2929F5}"/>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69A8733D-B4B3-7802-A556-E968ACA9E6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065AC3B1-4EE4-6C63-45D6-876214511D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9</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5A2435B2-080D-A20B-E52E-AD96841B31D0}"/>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EC6B28BD-4527-D092-7000-41B6ED8F2A08}"/>
              </a:ext>
            </a:extLst>
          </p:cNvPr>
          <p:cNvSpPr>
            <a:spLocks noGrp="1" noChangeArrowheads="1"/>
          </p:cNvSpPr>
          <p:nvPr>
            <p:ph type="body" idx="1"/>
          </p:nvPr>
        </p:nvSpPr>
        <p:spPr>
          <a:xfrm>
            <a:off x="1025236" y="1847851"/>
            <a:ext cx="10482586" cy="4349462"/>
          </a:xfrm>
        </p:spPr>
        <p:txBody>
          <a:bodyPr/>
          <a:lstStyle/>
          <a:p>
            <a:pPr>
              <a:lnSpc>
                <a:spcPct val="90000"/>
              </a:lnSpc>
            </a:pPr>
            <a:r>
              <a:rPr lang="en-US" altLang="en-US" sz="2400" dirty="0"/>
              <a:t>Research conducted ONCE with no intention of iteration</a:t>
            </a:r>
          </a:p>
          <a:p>
            <a:pPr>
              <a:lnSpc>
                <a:spcPct val="90000"/>
              </a:lnSpc>
            </a:pPr>
            <a:r>
              <a:rPr lang="en-US" altLang="en-US" sz="2400" dirty="0"/>
              <a:t>Reasons for one-time research</a:t>
            </a:r>
          </a:p>
          <a:p>
            <a:pPr lvl="1">
              <a:lnSpc>
                <a:spcPct val="90000"/>
              </a:lnSpc>
            </a:pPr>
            <a:r>
              <a:rPr lang="en-US" altLang="en-US" sz="2400" dirty="0"/>
              <a:t>Schedule feasibility constraints</a:t>
            </a:r>
          </a:p>
          <a:p>
            <a:pPr lvl="1">
              <a:lnSpc>
                <a:spcPct val="90000"/>
              </a:lnSpc>
            </a:pPr>
            <a:r>
              <a:rPr lang="en-US" altLang="en-US" sz="2400" dirty="0"/>
              <a:t>Budget &amp; Resource feasibility constraints</a:t>
            </a:r>
          </a:p>
          <a:p>
            <a:pPr lvl="1">
              <a:lnSpc>
                <a:spcPct val="90000"/>
              </a:lnSpc>
            </a:pPr>
            <a:r>
              <a:rPr lang="en-US" altLang="en-US" sz="2400" dirty="0"/>
              <a:t>Not a very complex research, has been done before, findings are almost predictable</a:t>
            </a:r>
          </a:p>
          <a:p>
            <a:pPr lvl="1">
              <a:lnSpc>
                <a:spcPct val="90000"/>
              </a:lnSpc>
            </a:pPr>
            <a:r>
              <a:rPr lang="en-US" altLang="en-US" sz="2400" dirty="0"/>
              <a:t>The researcher has identified that the status quo of the previous research has not changed.</a:t>
            </a:r>
          </a:p>
        </p:txBody>
      </p:sp>
      <p:sp>
        <p:nvSpPr>
          <p:cNvPr id="2" name="Date Placeholder 3">
            <a:extLst>
              <a:ext uri="{FF2B5EF4-FFF2-40B4-BE49-F238E27FC236}">
                <a16:creationId xmlns:a16="http://schemas.microsoft.com/office/drawing/2014/main" id="{75D5CE0C-6F0D-953E-F4E0-EAF363FDB21D}"/>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C2A4512E-BCCB-8474-0B6B-1D85F751C547}"/>
              </a:ext>
            </a:extLst>
          </p:cNvPr>
          <p:cNvSpPr txBox="1">
            <a:spLocks noChangeArrowheads="1"/>
          </p:cNvSpPr>
          <p:nvPr/>
        </p:nvSpPr>
        <p:spPr bwMode="auto">
          <a:xfrm>
            <a:off x="713454" y="1231067"/>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5. One Time Research</a:t>
            </a:r>
          </a:p>
        </p:txBody>
      </p:sp>
    </p:spTree>
    <p:extLst>
      <p:ext uri="{BB962C8B-B14F-4D97-AF65-F5344CB8AC3E}">
        <p14:creationId xmlns:p14="http://schemas.microsoft.com/office/powerpoint/2010/main" val="210860211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9310-CBAB-BAB6-604F-8A34998220AC}"/>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5CD1A08A-6444-B3A9-CAAB-F9EB7A9664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E9B4A743-6A1A-82A9-D437-6EEB0C1947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10</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3D96D17F-0BAA-B270-F462-DC49E48C5E2D}"/>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F474B66A-B144-C581-A411-38DA71C3D659}"/>
              </a:ext>
            </a:extLst>
          </p:cNvPr>
          <p:cNvSpPr>
            <a:spLocks noGrp="1" noChangeArrowheads="1"/>
          </p:cNvSpPr>
          <p:nvPr>
            <p:ph type="body" idx="1"/>
          </p:nvPr>
        </p:nvSpPr>
        <p:spPr>
          <a:xfrm>
            <a:off x="1025236" y="1847850"/>
            <a:ext cx="10482586" cy="4472267"/>
          </a:xfrm>
        </p:spPr>
        <p:txBody>
          <a:bodyPr/>
          <a:lstStyle/>
          <a:p>
            <a:pPr>
              <a:lnSpc>
                <a:spcPct val="90000"/>
              </a:lnSpc>
            </a:pPr>
            <a:r>
              <a:rPr lang="en-US" altLang="en-US" sz="2000" dirty="0"/>
              <a:t>Research conducted iteratively within coordinated spaces of time</a:t>
            </a:r>
          </a:p>
          <a:p>
            <a:pPr>
              <a:lnSpc>
                <a:spcPct val="90000"/>
              </a:lnSpc>
            </a:pPr>
            <a:r>
              <a:rPr lang="en-US" altLang="en-US" sz="2000" dirty="0"/>
              <a:t>Findings across the different instances of research are compared, patterns are revealed, and the research can stop after a number of reasonable iterations</a:t>
            </a:r>
          </a:p>
          <a:p>
            <a:pPr>
              <a:lnSpc>
                <a:spcPct val="90000"/>
              </a:lnSpc>
            </a:pPr>
            <a:r>
              <a:rPr lang="en-US" altLang="en-US" sz="2000" dirty="0"/>
              <a:t>Complete iterations</a:t>
            </a:r>
          </a:p>
          <a:p>
            <a:pPr>
              <a:lnSpc>
                <a:spcPct val="90000"/>
              </a:lnSpc>
            </a:pPr>
            <a:r>
              <a:rPr lang="en-US" altLang="en-US" sz="2000" dirty="0"/>
              <a:t>Examples:</a:t>
            </a:r>
          </a:p>
          <a:p>
            <a:pPr lvl="1">
              <a:lnSpc>
                <a:spcPct val="90000"/>
              </a:lnSpc>
            </a:pPr>
            <a:r>
              <a:rPr lang="en-US" altLang="en-US" sz="2000" dirty="0"/>
              <a:t>A computer research – to investigate how the latency of a company network changes in a week. We will record the network findings per day. At the end of the week, I can reflect on the findings of the daily researches – pull out patterns, come up with a general conclusive finding/conclusion</a:t>
            </a:r>
          </a:p>
          <a:p>
            <a:pPr>
              <a:lnSpc>
                <a:spcPct val="90000"/>
              </a:lnSpc>
            </a:pPr>
            <a:r>
              <a:rPr lang="en-US" altLang="en-US" sz="2000" dirty="0"/>
              <a:t>Reasons:</a:t>
            </a:r>
          </a:p>
          <a:p>
            <a:pPr lvl="1">
              <a:lnSpc>
                <a:spcPct val="90000"/>
              </a:lnSpc>
            </a:pPr>
            <a:r>
              <a:rPr lang="en-US" altLang="en-US" sz="2000" dirty="0"/>
              <a:t>To identify or observe changing patterns (to accommodate varying conditions, changes, trends, developments)</a:t>
            </a:r>
          </a:p>
          <a:p>
            <a:pPr lvl="1">
              <a:lnSpc>
                <a:spcPct val="90000"/>
              </a:lnSpc>
            </a:pPr>
            <a:r>
              <a:rPr lang="en-US" altLang="en-US" sz="2000" dirty="0"/>
              <a:t>To come up with an acceptable agreeable, non-biased average</a:t>
            </a:r>
          </a:p>
          <a:p>
            <a:pPr lvl="1">
              <a:lnSpc>
                <a:spcPct val="90000"/>
              </a:lnSpc>
            </a:pPr>
            <a:r>
              <a:rPr lang="en-US" altLang="en-US" sz="2000" dirty="0"/>
              <a:t>Investigation under study happens only specific times e.g. weather</a:t>
            </a:r>
          </a:p>
        </p:txBody>
      </p:sp>
      <p:sp>
        <p:nvSpPr>
          <p:cNvPr id="2" name="Date Placeholder 3">
            <a:extLst>
              <a:ext uri="{FF2B5EF4-FFF2-40B4-BE49-F238E27FC236}">
                <a16:creationId xmlns:a16="http://schemas.microsoft.com/office/drawing/2014/main" id="{C23F88BF-D133-E0AD-859E-FCF62656DD13}"/>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CDACB816-3B60-DF61-FE7A-6A0F2B1CFCBF}"/>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6. Longitudinal Research</a:t>
            </a:r>
          </a:p>
        </p:txBody>
      </p:sp>
    </p:spTree>
    <p:extLst>
      <p:ext uri="{BB962C8B-B14F-4D97-AF65-F5344CB8AC3E}">
        <p14:creationId xmlns:p14="http://schemas.microsoft.com/office/powerpoint/2010/main" val="36838473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AB3B3-857E-0D79-E676-352DFE1250D7}"/>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EA917BBF-4DF1-9CE1-8276-28700CB3A71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4BCAD713-302A-46CC-A1FB-E3849294E5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11</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075764BA-5951-6D3C-0ACD-76BA687E7171}"/>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D79FC471-D944-3422-EC78-3703CC011727}"/>
              </a:ext>
            </a:extLst>
          </p:cNvPr>
          <p:cNvSpPr>
            <a:spLocks noGrp="1" noChangeArrowheads="1"/>
          </p:cNvSpPr>
          <p:nvPr>
            <p:ph type="body" idx="1"/>
          </p:nvPr>
        </p:nvSpPr>
        <p:spPr>
          <a:xfrm>
            <a:off x="1025236" y="1847850"/>
            <a:ext cx="10482586" cy="4472267"/>
          </a:xfrm>
        </p:spPr>
        <p:txBody>
          <a:bodyPr/>
          <a:lstStyle/>
          <a:p>
            <a:pPr>
              <a:lnSpc>
                <a:spcPct val="90000"/>
              </a:lnSpc>
            </a:pPr>
            <a:r>
              <a:rPr lang="en-US" altLang="en-US" sz="2400" dirty="0"/>
              <a:t>Research aimed at stating facts as they appear/are without a direct intention to follow up, to problem-solve, etc.</a:t>
            </a:r>
          </a:p>
          <a:p>
            <a:pPr>
              <a:lnSpc>
                <a:spcPct val="90000"/>
              </a:lnSpc>
            </a:pPr>
            <a:r>
              <a:rPr lang="en-US" altLang="en-US" sz="2400" dirty="0"/>
              <a:t>Examples</a:t>
            </a:r>
          </a:p>
          <a:p>
            <a:pPr lvl="1">
              <a:lnSpc>
                <a:spcPct val="90000"/>
              </a:lnSpc>
            </a:pPr>
            <a:r>
              <a:rPr lang="en-US" altLang="en-US" sz="2400" dirty="0"/>
              <a:t>Research conducted to find the rate of weekly purchases on an online shopping platform</a:t>
            </a:r>
          </a:p>
          <a:p>
            <a:pPr lvl="1">
              <a:lnSpc>
                <a:spcPct val="90000"/>
              </a:lnSpc>
            </a:pPr>
            <a:r>
              <a:rPr lang="en-US" altLang="en-US" sz="2400" dirty="0"/>
              <a:t>Research conducted to investigate annual mortality rates in a constituency</a:t>
            </a:r>
          </a:p>
          <a:p>
            <a:pPr>
              <a:lnSpc>
                <a:spcPct val="90000"/>
              </a:lnSpc>
            </a:pPr>
            <a:endParaRPr lang="en-US" altLang="en-US" sz="2400" dirty="0"/>
          </a:p>
          <a:p>
            <a:pPr>
              <a:lnSpc>
                <a:spcPct val="90000"/>
              </a:lnSpc>
            </a:pPr>
            <a:endParaRPr lang="en-US" altLang="en-US" sz="2400" dirty="0"/>
          </a:p>
        </p:txBody>
      </p:sp>
      <p:sp>
        <p:nvSpPr>
          <p:cNvPr id="2" name="Date Placeholder 3">
            <a:extLst>
              <a:ext uri="{FF2B5EF4-FFF2-40B4-BE49-F238E27FC236}">
                <a16:creationId xmlns:a16="http://schemas.microsoft.com/office/drawing/2014/main" id="{A838CDC5-6AF2-29C4-229D-39B407E12771}"/>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D392A706-937E-F515-CD76-F85A3BF9EE90}"/>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7. Descriptive Research</a:t>
            </a:r>
          </a:p>
        </p:txBody>
      </p:sp>
    </p:spTree>
    <p:extLst>
      <p:ext uri="{BB962C8B-B14F-4D97-AF65-F5344CB8AC3E}">
        <p14:creationId xmlns:p14="http://schemas.microsoft.com/office/powerpoint/2010/main" val="37660597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8D77-B5FB-B5F6-F9A0-847D82733445}"/>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49D0DEF0-44FE-5718-62EB-D2982A0866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9918752F-3C24-0EF8-1D29-F09850D7F7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12</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6A94F0BD-40B4-38C7-769C-2AAA6232F846}"/>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94997092-F342-E2C1-9802-1275FC681CE7}"/>
              </a:ext>
            </a:extLst>
          </p:cNvPr>
          <p:cNvSpPr>
            <a:spLocks noGrp="1" noChangeArrowheads="1"/>
          </p:cNvSpPr>
          <p:nvPr>
            <p:ph type="body" idx="1"/>
          </p:nvPr>
        </p:nvSpPr>
        <p:spPr>
          <a:xfrm>
            <a:off x="1025236" y="1847850"/>
            <a:ext cx="10482586" cy="4472267"/>
          </a:xfrm>
        </p:spPr>
        <p:txBody>
          <a:bodyPr/>
          <a:lstStyle/>
          <a:p>
            <a:pPr>
              <a:lnSpc>
                <a:spcPct val="90000"/>
              </a:lnSpc>
            </a:pPr>
            <a:r>
              <a:rPr lang="en-US" altLang="en-US" sz="2200" dirty="0"/>
              <a:t>Analysis:</a:t>
            </a:r>
          </a:p>
          <a:p>
            <a:pPr lvl="1">
              <a:lnSpc>
                <a:spcPct val="90000"/>
              </a:lnSpc>
            </a:pPr>
            <a:r>
              <a:rPr lang="en-US" altLang="en-US" sz="1800" dirty="0"/>
              <a:t>Comparison</a:t>
            </a:r>
          </a:p>
          <a:p>
            <a:pPr lvl="1">
              <a:lnSpc>
                <a:spcPct val="90000"/>
              </a:lnSpc>
            </a:pPr>
            <a:r>
              <a:rPr lang="en-US" altLang="en-US" sz="1800" dirty="0"/>
              <a:t>Calculation</a:t>
            </a:r>
          </a:p>
          <a:p>
            <a:pPr lvl="1">
              <a:lnSpc>
                <a:spcPct val="90000"/>
              </a:lnSpc>
            </a:pPr>
            <a:r>
              <a:rPr lang="en-US" altLang="en-US" sz="1800" dirty="0"/>
              <a:t>Real time observation</a:t>
            </a:r>
          </a:p>
          <a:p>
            <a:pPr lvl="1">
              <a:lnSpc>
                <a:spcPct val="90000"/>
              </a:lnSpc>
            </a:pPr>
            <a:r>
              <a:rPr lang="en-US" altLang="en-US" sz="1800" dirty="0"/>
              <a:t>Critique</a:t>
            </a:r>
          </a:p>
          <a:p>
            <a:pPr>
              <a:lnSpc>
                <a:spcPct val="90000"/>
              </a:lnSpc>
            </a:pPr>
            <a:r>
              <a:rPr lang="en-US" altLang="en-US" sz="2200" dirty="0"/>
              <a:t>Deeper than a descriptive research aimed at not just knowing the what’s of the facts but the why’s, how’s and where’s of the facts.</a:t>
            </a:r>
          </a:p>
          <a:p>
            <a:pPr>
              <a:lnSpc>
                <a:spcPct val="90000"/>
              </a:lnSpc>
            </a:pPr>
            <a:r>
              <a:rPr lang="en-US" altLang="en-US" sz="2200" dirty="0"/>
              <a:t>A deeper investigation of cause and effects</a:t>
            </a:r>
          </a:p>
          <a:p>
            <a:pPr>
              <a:lnSpc>
                <a:spcPct val="90000"/>
              </a:lnSpc>
            </a:pPr>
            <a:r>
              <a:rPr lang="en-US" altLang="en-US" sz="2200" dirty="0"/>
              <a:t>Example:</a:t>
            </a:r>
          </a:p>
          <a:p>
            <a:pPr lvl="1">
              <a:lnSpc>
                <a:spcPct val="90000"/>
              </a:lnSpc>
            </a:pPr>
            <a:r>
              <a:rPr lang="en-US" altLang="en-US" sz="1800" dirty="0"/>
              <a:t>Research conducted to find the rate of weekly purchases on an online shopping platform - deeper investigation of why the rates are that way, real time observation of online purchase processes of a logged in customer, critique a worldview about those facts</a:t>
            </a:r>
          </a:p>
          <a:p>
            <a:pPr lvl="1">
              <a:lnSpc>
                <a:spcPct val="90000"/>
              </a:lnSpc>
            </a:pPr>
            <a:endParaRPr lang="en-US" altLang="en-US" sz="1800" dirty="0"/>
          </a:p>
          <a:p>
            <a:pPr>
              <a:lnSpc>
                <a:spcPct val="90000"/>
              </a:lnSpc>
            </a:pPr>
            <a:endParaRPr lang="en-US" altLang="en-US" sz="2200" dirty="0"/>
          </a:p>
        </p:txBody>
      </p:sp>
      <p:sp>
        <p:nvSpPr>
          <p:cNvPr id="2" name="Date Placeholder 3">
            <a:extLst>
              <a:ext uri="{FF2B5EF4-FFF2-40B4-BE49-F238E27FC236}">
                <a16:creationId xmlns:a16="http://schemas.microsoft.com/office/drawing/2014/main" id="{80716CE4-2EFE-8096-B72F-45B33204C3D2}"/>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BC2CB2B5-1A65-DA39-C931-18AF72EACCB0}"/>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8. Analytical Research</a:t>
            </a:r>
          </a:p>
        </p:txBody>
      </p:sp>
    </p:spTree>
    <p:extLst>
      <p:ext uri="{BB962C8B-B14F-4D97-AF65-F5344CB8AC3E}">
        <p14:creationId xmlns:p14="http://schemas.microsoft.com/office/powerpoint/2010/main" val="136083865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A405-8B2A-340D-5808-7333D6978164}"/>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A48A13EE-E6EA-3B5E-3DED-FCE6B2FD7D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99D524B1-8F62-C5DF-336A-7F70B22F8E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13</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42E10EE1-FD93-B5F1-F8B4-68CC9BB1B181}"/>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7B250955-9DF3-966A-5EAE-CFA2DAC86C8A}"/>
              </a:ext>
            </a:extLst>
          </p:cNvPr>
          <p:cNvSpPr>
            <a:spLocks noGrp="1" noChangeArrowheads="1"/>
          </p:cNvSpPr>
          <p:nvPr>
            <p:ph type="body" idx="1"/>
          </p:nvPr>
        </p:nvSpPr>
        <p:spPr>
          <a:xfrm>
            <a:off x="1025236" y="1847850"/>
            <a:ext cx="10482586" cy="4472267"/>
          </a:xfrm>
        </p:spPr>
        <p:txBody>
          <a:bodyPr/>
          <a:lstStyle/>
          <a:p>
            <a:pPr>
              <a:lnSpc>
                <a:spcPct val="90000"/>
              </a:lnSpc>
            </a:pPr>
            <a:r>
              <a:rPr lang="en-US" altLang="en-US" sz="1600" dirty="0"/>
              <a:t>Hypothesis is an informed/educated assumption, based on previous studies, previous observations, or previous works of other researchers, but remains an assumption in THIS particular research because we don’t know whether previous findings will be the same for our research</a:t>
            </a:r>
          </a:p>
          <a:p>
            <a:pPr>
              <a:lnSpc>
                <a:spcPct val="90000"/>
              </a:lnSpc>
            </a:pPr>
            <a:r>
              <a:rPr lang="en-US" altLang="en-US" sz="1600" dirty="0">
                <a:solidFill>
                  <a:schemeClr val="bg2">
                    <a:lumMod val="50000"/>
                  </a:schemeClr>
                </a:solidFill>
              </a:rPr>
              <a:t>Example:</a:t>
            </a:r>
          </a:p>
          <a:p>
            <a:pPr lvl="1">
              <a:lnSpc>
                <a:spcPct val="90000"/>
              </a:lnSpc>
            </a:pPr>
            <a:r>
              <a:rPr lang="en-US" altLang="en-US" sz="1600" dirty="0">
                <a:solidFill>
                  <a:schemeClr val="bg2">
                    <a:lumMod val="50000"/>
                  </a:schemeClr>
                </a:solidFill>
              </a:rPr>
              <a:t>Hypothesis: Weekly purchases is influenced by internal system factors e.g. cost of items, rates and reviews of products, and external factors such as the economy</a:t>
            </a:r>
          </a:p>
          <a:p>
            <a:pPr lvl="2">
              <a:lnSpc>
                <a:spcPct val="90000"/>
              </a:lnSpc>
            </a:pPr>
            <a:r>
              <a:rPr lang="en-US" altLang="en-US" sz="1600" dirty="0">
                <a:solidFill>
                  <a:schemeClr val="bg2">
                    <a:lumMod val="50000"/>
                  </a:schemeClr>
                </a:solidFill>
              </a:rPr>
              <a:t>We would love to investigate these claims in our SPECIFIC online shopping platform</a:t>
            </a:r>
          </a:p>
          <a:p>
            <a:pPr lvl="1">
              <a:lnSpc>
                <a:spcPct val="90000"/>
              </a:lnSpc>
            </a:pPr>
            <a:r>
              <a:rPr lang="en-US" altLang="en-US" sz="1600" dirty="0">
                <a:solidFill>
                  <a:schemeClr val="bg2">
                    <a:lumMod val="50000"/>
                  </a:schemeClr>
                </a:solidFill>
              </a:rPr>
              <a:t>Hypothesis: Student pass rates are influenced by student hard work, lecturer class participation, and internal university grading policy such as upward and downward moderation of grade</a:t>
            </a:r>
          </a:p>
          <a:p>
            <a:pPr lvl="2">
              <a:lnSpc>
                <a:spcPct val="90000"/>
              </a:lnSpc>
            </a:pPr>
            <a:r>
              <a:rPr lang="en-US" altLang="en-US" sz="1600" dirty="0">
                <a:solidFill>
                  <a:schemeClr val="bg2">
                    <a:lumMod val="50000"/>
                  </a:schemeClr>
                </a:solidFill>
              </a:rPr>
              <a:t>We would love to investigate if these claims also apply to Zetech University</a:t>
            </a:r>
          </a:p>
          <a:p>
            <a:pPr>
              <a:lnSpc>
                <a:spcPct val="90000"/>
              </a:lnSpc>
            </a:pPr>
            <a:r>
              <a:rPr lang="en-US" altLang="en-US" sz="1600" dirty="0">
                <a:solidFill>
                  <a:schemeClr val="bg2">
                    <a:lumMod val="50000"/>
                  </a:schemeClr>
                </a:solidFill>
              </a:rPr>
              <a:t>A hypothesis-testing research will end up supporting or refuting the hypothesis CONTEXTUALLY</a:t>
            </a:r>
          </a:p>
          <a:p>
            <a:pPr>
              <a:lnSpc>
                <a:spcPct val="90000"/>
              </a:lnSpc>
            </a:pPr>
            <a:r>
              <a:rPr lang="en-US" altLang="en-US" sz="1600" dirty="0">
                <a:solidFill>
                  <a:schemeClr val="bg2">
                    <a:lumMod val="50000"/>
                  </a:schemeClr>
                </a:solidFill>
              </a:rPr>
              <a:t>Reason: </a:t>
            </a:r>
          </a:p>
          <a:p>
            <a:pPr lvl="1">
              <a:lnSpc>
                <a:spcPct val="90000"/>
              </a:lnSpc>
            </a:pPr>
            <a:r>
              <a:rPr lang="en-US" altLang="en-US" sz="1600" dirty="0">
                <a:solidFill>
                  <a:schemeClr val="bg2">
                    <a:lumMod val="50000"/>
                  </a:schemeClr>
                </a:solidFill>
              </a:rPr>
              <a:t>To see if previous researches missed out on important things: could be a basis of challenging a long-held hypothesis</a:t>
            </a:r>
          </a:p>
          <a:p>
            <a:pPr lvl="1">
              <a:lnSpc>
                <a:spcPct val="90000"/>
              </a:lnSpc>
            </a:pPr>
            <a:r>
              <a:rPr lang="en-US" altLang="en-US" sz="1600" dirty="0">
                <a:solidFill>
                  <a:schemeClr val="bg2">
                    <a:lumMod val="50000"/>
                  </a:schemeClr>
                </a:solidFill>
              </a:rPr>
              <a:t>To eliminate doubt</a:t>
            </a:r>
          </a:p>
          <a:p>
            <a:pPr lvl="1">
              <a:lnSpc>
                <a:spcPct val="90000"/>
              </a:lnSpc>
            </a:pPr>
            <a:r>
              <a:rPr lang="en-US" altLang="en-US" sz="1600" dirty="0">
                <a:solidFill>
                  <a:schemeClr val="bg2">
                    <a:lumMod val="50000"/>
                  </a:schemeClr>
                </a:solidFill>
              </a:rPr>
              <a:t>To test whether the hypothesis still holds or whether conditions/factors have changed</a:t>
            </a:r>
          </a:p>
          <a:p>
            <a:pPr lvl="1">
              <a:lnSpc>
                <a:spcPct val="90000"/>
              </a:lnSpc>
            </a:pPr>
            <a:r>
              <a:rPr lang="en-US" altLang="en-US" sz="1600" dirty="0">
                <a:solidFill>
                  <a:schemeClr val="bg2">
                    <a:lumMod val="50000"/>
                  </a:schemeClr>
                </a:solidFill>
              </a:rPr>
              <a:t>To control error and bias</a:t>
            </a:r>
          </a:p>
        </p:txBody>
      </p:sp>
      <p:sp>
        <p:nvSpPr>
          <p:cNvPr id="2" name="Date Placeholder 3">
            <a:extLst>
              <a:ext uri="{FF2B5EF4-FFF2-40B4-BE49-F238E27FC236}">
                <a16:creationId xmlns:a16="http://schemas.microsoft.com/office/drawing/2014/main" id="{973E063C-01BD-7464-8BC9-BDF3EC8F7412}"/>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B460808C-6DA6-0E19-2C9B-0635A07EE7AA}"/>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t>9. Hypothesis-Testing Research</a:t>
            </a:r>
          </a:p>
        </p:txBody>
      </p:sp>
    </p:spTree>
    <p:extLst>
      <p:ext uri="{BB962C8B-B14F-4D97-AF65-F5344CB8AC3E}">
        <p14:creationId xmlns:p14="http://schemas.microsoft.com/office/powerpoint/2010/main" val="361188077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A7E2E-ACD3-762E-A1A7-0A945C25BC75}"/>
            </a:ext>
          </a:extLst>
        </p:cNvPr>
        <p:cNvGrpSpPr/>
        <p:nvPr/>
      </p:nvGrpSpPr>
      <p:grpSpPr>
        <a:xfrm>
          <a:off x="0" y="0"/>
          <a:ext cx="0" cy="0"/>
          <a:chOff x="0" y="0"/>
          <a:chExt cx="0" cy="0"/>
        </a:xfrm>
      </p:grpSpPr>
      <p:sp>
        <p:nvSpPr>
          <p:cNvPr id="10243" name="Footer Placeholder 4">
            <a:extLst>
              <a:ext uri="{FF2B5EF4-FFF2-40B4-BE49-F238E27FC236}">
                <a16:creationId xmlns:a16="http://schemas.microsoft.com/office/drawing/2014/main" id="{2613F6B3-FCF9-C197-9CE0-3D6DF9226F7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10244" name="Slide Number Placeholder 5">
            <a:extLst>
              <a:ext uri="{FF2B5EF4-FFF2-40B4-BE49-F238E27FC236}">
                <a16:creationId xmlns:a16="http://schemas.microsoft.com/office/drawing/2014/main" id="{9A090AA2-1677-73BB-73AE-5B37875E0F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890EF30D-EF4B-4BEE-B0F2-28F0B789CD2D}" type="slidenum">
              <a:rPr lang="en-US" altLang="en-US" sz="1200">
                <a:latin typeface="Arial Black" panose="020B0A04020102020204" pitchFamily="34" charset="0"/>
              </a:rPr>
              <a:pPr>
                <a:spcBef>
                  <a:spcPct val="0"/>
                </a:spcBef>
                <a:buClrTx/>
                <a:buSzTx/>
                <a:buFontTx/>
                <a:buNone/>
              </a:pPr>
              <a:t>14</a:t>
            </a:fld>
            <a:endParaRPr lang="en-US" altLang="en-US" sz="1200">
              <a:latin typeface="Arial Black" panose="020B0A04020102020204" pitchFamily="34" charset="0"/>
            </a:endParaRPr>
          </a:p>
        </p:txBody>
      </p:sp>
      <p:sp>
        <p:nvSpPr>
          <p:cNvPr id="10245" name="Rectangle 2">
            <a:extLst>
              <a:ext uri="{FF2B5EF4-FFF2-40B4-BE49-F238E27FC236}">
                <a16:creationId xmlns:a16="http://schemas.microsoft.com/office/drawing/2014/main" id="{FF2E6E05-2987-02C3-F9D8-F3A479732AA8}"/>
              </a:ext>
            </a:extLst>
          </p:cNvPr>
          <p:cNvSpPr>
            <a:spLocks noGrp="1" noChangeArrowheads="1"/>
          </p:cNvSpPr>
          <p:nvPr>
            <p:ph type="title"/>
          </p:nvPr>
        </p:nvSpPr>
        <p:spPr>
          <a:xfrm>
            <a:off x="561975" y="228600"/>
            <a:ext cx="11106149" cy="914400"/>
          </a:xfrm>
        </p:spPr>
        <p:txBody>
          <a:bodyPr/>
          <a:lstStyle/>
          <a:p>
            <a:pPr algn="ctr" eaLnBrk="1" hangingPunct="1"/>
            <a:r>
              <a:rPr lang="en-US" altLang="en-US" sz="3200" b="1" dirty="0"/>
              <a:t>TYPES OF RESEARCH &amp; THEIR PURPOSE</a:t>
            </a:r>
          </a:p>
        </p:txBody>
      </p:sp>
      <p:sp>
        <p:nvSpPr>
          <p:cNvPr id="10246" name="Rectangle 3">
            <a:extLst>
              <a:ext uri="{FF2B5EF4-FFF2-40B4-BE49-F238E27FC236}">
                <a16:creationId xmlns:a16="http://schemas.microsoft.com/office/drawing/2014/main" id="{732169BD-2529-A4D7-0525-731960229C8A}"/>
              </a:ext>
            </a:extLst>
          </p:cNvPr>
          <p:cNvSpPr>
            <a:spLocks noGrp="1" noChangeArrowheads="1"/>
          </p:cNvSpPr>
          <p:nvPr>
            <p:ph type="body" idx="1"/>
          </p:nvPr>
        </p:nvSpPr>
        <p:spPr>
          <a:xfrm>
            <a:off x="1025236" y="1847850"/>
            <a:ext cx="10482586" cy="4472267"/>
          </a:xfrm>
        </p:spPr>
        <p:txBody>
          <a:bodyPr/>
          <a:lstStyle/>
          <a:p>
            <a:pPr>
              <a:lnSpc>
                <a:spcPct val="90000"/>
              </a:lnSpc>
            </a:pPr>
            <a:r>
              <a:rPr lang="en-US" altLang="en-US" sz="2000" dirty="0"/>
              <a:t>Aimed at understanding AND solving a problem</a:t>
            </a:r>
          </a:p>
          <a:p>
            <a:pPr>
              <a:lnSpc>
                <a:spcPct val="90000"/>
              </a:lnSpc>
            </a:pPr>
            <a:r>
              <a:rPr lang="en-US" altLang="en-US" sz="2000" dirty="0"/>
              <a:t>Map practical solutions to real world problems</a:t>
            </a:r>
          </a:p>
          <a:p>
            <a:pPr marL="0" indent="0">
              <a:lnSpc>
                <a:spcPct val="90000"/>
              </a:lnSpc>
              <a:buNone/>
            </a:pPr>
            <a:r>
              <a:rPr lang="en-US" altLang="en-US" sz="2000" b="1" dirty="0"/>
              <a:t>NB: This is the type of research we are going to conduct</a:t>
            </a:r>
          </a:p>
          <a:p>
            <a:pPr>
              <a:lnSpc>
                <a:spcPct val="90000"/>
              </a:lnSpc>
            </a:pPr>
            <a:r>
              <a:rPr lang="en-US" altLang="en-US" sz="2000" dirty="0"/>
              <a:t>The problem is investigated, diagnosis is done, existing solutions are studied, compared and critiqued, a proposal for a befitting solution is drafted AND that solution is developed.</a:t>
            </a:r>
          </a:p>
          <a:p>
            <a:pPr>
              <a:lnSpc>
                <a:spcPct val="90000"/>
              </a:lnSpc>
            </a:pPr>
            <a:r>
              <a:rPr lang="en-US" altLang="en-US" sz="2000" dirty="0"/>
              <a:t>Example:</a:t>
            </a:r>
          </a:p>
          <a:p>
            <a:pPr lvl="1">
              <a:lnSpc>
                <a:spcPct val="90000"/>
              </a:lnSpc>
            </a:pPr>
            <a:r>
              <a:rPr lang="en-US" altLang="en-US" sz="2000" dirty="0"/>
              <a:t>Problem: High school students sneaking out of school at unacceptable hours. Researcher tasked to find root cause (diagnosis) and propose a solution, then develop said solution. “</a:t>
            </a:r>
            <a:r>
              <a:rPr lang="en-US" altLang="en-US" sz="2000" b="1" dirty="0"/>
              <a:t>How will the researcher conduct this problem-solving research?”</a:t>
            </a:r>
          </a:p>
          <a:p>
            <a:pPr lvl="1">
              <a:lnSpc>
                <a:spcPct val="90000"/>
              </a:lnSpc>
            </a:pPr>
            <a:r>
              <a:rPr lang="en-US" altLang="en-US" sz="2000" b="1" dirty="0"/>
              <a:t>A RESEARCH PROBLEM</a:t>
            </a:r>
            <a:endParaRPr lang="en-US" altLang="en-US" sz="2000" dirty="0"/>
          </a:p>
        </p:txBody>
      </p:sp>
      <p:sp>
        <p:nvSpPr>
          <p:cNvPr id="2" name="Date Placeholder 3">
            <a:extLst>
              <a:ext uri="{FF2B5EF4-FFF2-40B4-BE49-F238E27FC236}">
                <a16:creationId xmlns:a16="http://schemas.microsoft.com/office/drawing/2014/main" id="{BF5D65AD-3756-474B-E4A3-9E4742749192}"/>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
        <p:nvSpPr>
          <p:cNvPr id="3" name="Rectangle 2">
            <a:extLst>
              <a:ext uri="{FF2B5EF4-FFF2-40B4-BE49-F238E27FC236}">
                <a16:creationId xmlns:a16="http://schemas.microsoft.com/office/drawing/2014/main" id="{37E936D1-143E-BC8F-7EF4-F6BFD743CB1F}"/>
              </a:ext>
            </a:extLst>
          </p:cNvPr>
          <p:cNvSpPr txBox="1">
            <a:spLocks noChangeArrowheads="1"/>
          </p:cNvSpPr>
          <p:nvPr/>
        </p:nvSpPr>
        <p:spPr bwMode="auto">
          <a:xfrm>
            <a:off x="713454" y="1245174"/>
            <a:ext cx="11106149" cy="60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a:lstStyle>
          <a:p>
            <a:pPr algn="ctr"/>
            <a:r>
              <a:rPr lang="en-US" altLang="en-US" sz="3200" b="1" kern="0" dirty="0">
                <a:solidFill>
                  <a:srgbClr val="FF0000"/>
                </a:solidFill>
              </a:rPr>
              <a:t>10. Problem-Solving Research</a:t>
            </a:r>
          </a:p>
        </p:txBody>
      </p:sp>
    </p:spTree>
    <p:extLst>
      <p:ext uri="{BB962C8B-B14F-4D97-AF65-F5344CB8AC3E}">
        <p14:creationId xmlns:p14="http://schemas.microsoft.com/office/powerpoint/2010/main" val="138764312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r>
              <a:rPr lang="en-US" altLang="en-US" sz="1200"/>
              <a:t>Research Methods Intro</a:t>
            </a:r>
          </a:p>
        </p:txBody>
      </p:sp>
      <p:sp>
        <p:nvSpPr>
          <p:cNvPr id="307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spcBef>
                <a:spcPct val="0"/>
              </a:spcBef>
              <a:buClrTx/>
              <a:buSzTx/>
              <a:buFontTx/>
              <a:buNone/>
            </a:pPr>
            <a:fld id="{B3D9DBDB-87A4-41F0-8457-1A38A967C4DC}" type="slidenum">
              <a:rPr lang="en-US" altLang="en-US" sz="1200">
                <a:latin typeface="Arial Black" panose="020B0A04020102020204" pitchFamily="34" charset="0"/>
              </a:rPr>
              <a:pPr>
                <a:spcBef>
                  <a:spcPct val="0"/>
                </a:spcBef>
                <a:buClrTx/>
                <a:buSzTx/>
                <a:buFontTx/>
                <a:buNone/>
              </a:pPr>
              <a:t>15</a:t>
            </a:fld>
            <a:endParaRPr lang="en-US" altLang="en-US" sz="1200">
              <a:latin typeface="Arial Black" panose="020B0A04020102020204" pitchFamily="34" charset="0"/>
            </a:endParaRPr>
          </a:p>
        </p:txBody>
      </p:sp>
      <p:grpSp>
        <p:nvGrpSpPr>
          <p:cNvPr id="8" name="Group 7">
            <a:extLst>
              <a:ext uri="{FF2B5EF4-FFF2-40B4-BE49-F238E27FC236}">
                <a16:creationId xmlns:a16="http://schemas.microsoft.com/office/drawing/2014/main" id="{1D4DF1CA-2387-4A3D-B5DD-32177BA70D90}"/>
              </a:ext>
            </a:extLst>
          </p:cNvPr>
          <p:cNvGrpSpPr/>
          <p:nvPr/>
        </p:nvGrpSpPr>
        <p:grpSpPr>
          <a:xfrm>
            <a:off x="2549323" y="999376"/>
            <a:ext cx="6286500" cy="4859248"/>
            <a:chOff x="3067050" y="1036727"/>
            <a:chExt cx="4778517" cy="4859248"/>
          </a:xfrm>
        </p:grpSpPr>
        <p:pic>
          <p:nvPicPr>
            <p:cNvPr id="9" name="Picture 8">
              <a:extLst>
                <a:ext uri="{FF2B5EF4-FFF2-40B4-BE49-F238E27FC236}">
                  <a16:creationId xmlns:a16="http://schemas.microsoft.com/office/drawing/2014/main" id="{97C9A5D2-CCCD-4D92-AF57-94CE44110E83}"/>
                </a:ext>
              </a:extLst>
            </p:cNvPr>
            <p:cNvPicPr>
              <a:picLocks noChangeAspect="1"/>
            </p:cNvPicPr>
            <p:nvPr/>
          </p:nvPicPr>
          <p:blipFill>
            <a:blip r:embed="rId2"/>
            <a:stretch>
              <a:fillRect/>
            </a:stretch>
          </p:blipFill>
          <p:spPr>
            <a:xfrm>
              <a:off x="3067050" y="2276423"/>
              <a:ext cx="4778517" cy="3619552"/>
            </a:xfrm>
            <a:prstGeom prst="rect">
              <a:avLst/>
            </a:prstGeom>
          </p:spPr>
        </p:pic>
        <p:sp>
          <p:nvSpPr>
            <p:cNvPr id="10" name="Speech Bubble: Oval 9">
              <a:extLst>
                <a:ext uri="{FF2B5EF4-FFF2-40B4-BE49-F238E27FC236}">
                  <a16:creationId xmlns:a16="http://schemas.microsoft.com/office/drawing/2014/main" id="{13475173-52D4-40A2-AE40-E1662D8ADF91}"/>
                </a:ext>
              </a:extLst>
            </p:cNvPr>
            <p:cNvSpPr/>
            <p:nvPr/>
          </p:nvSpPr>
          <p:spPr bwMode="auto">
            <a:xfrm>
              <a:off x="4462462" y="1036727"/>
              <a:ext cx="3267075" cy="1507946"/>
            </a:xfrm>
            <a:prstGeom prst="wedgeEllipseCallout">
              <a:avLst/>
            </a:prstGeom>
            <a:solidFill>
              <a:schemeClr val="bg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rgbClr val="FF0000"/>
                  </a:solidFill>
                  <a:effectLst/>
                  <a:latin typeface="Brush Script MT" panose="03060802040406070304" pitchFamily="66" charset="0"/>
                </a:rPr>
                <a:t>The End!!!!</a:t>
              </a:r>
              <a:endParaRPr kumimoji="0" lang="en-KE" sz="3200" b="1" i="0" u="none" strike="noStrike" cap="none" normalizeH="0" baseline="0" dirty="0">
                <a:ln>
                  <a:noFill/>
                </a:ln>
                <a:solidFill>
                  <a:srgbClr val="FF0000"/>
                </a:solidFill>
                <a:effectLst/>
                <a:latin typeface="Brush Script MT" panose="03060802040406070304" pitchFamily="66" charset="0"/>
              </a:endParaRPr>
            </a:p>
          </p:txBody>
        </p:sp>
      </p:grpSp>
      <p:sp>
        <p:nvSpPr>
          <p:cNvPr id="2" name="Date Placeholder 3">
            <a:extLst>
              <a:ext uri="{FF2B5EF4-FFF2-40B4-BE49-F238E27FC236}">
                <a16:creationId xmlns:a16="http://schemas.microsoft.com/office/drawing/2014/main" id="{6E960832-3936-1EEF-3EC4-31EB35AE3127}"/>
              </a:ext>
            </a:extLst>
          </p:cNvPr>
          <p:cNvSpPr>
            <a:spLocks noGrp="1"/>
          </p:cNvSpPr>
          <p:nvPr/>
        </p:nvSpPr>
        <p:spPr bwMode="auto">
          <a:xfrm>
            <a:off x="1966259" y="6197313"/>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Dr. </a:t>
            </a:r>
            <a:r>
              <a:rPr lang="en-US" dirty="0" err="1"/>
              <a:t>Kibuku</a:t>
            </a:r>
            <a:r>
              <a:rPr lang="en-US" dirty="0"/>
              <a:t> R.</a:t>
            </a:r>
          </a:p>
        </p:txBody>
      </p:sp>
    </p:spTree>
    <p:extLst>
      <p:ext uri="{BB962C8B-B14F-4D97-AF65-F5344CB8AC3E}">
        <p14:creationId xmlns:p14="http://schemas.microsoft.com/office/powerpoint/2010/main" val="2742655528"/>
      </p:ext>
    </p:extLst>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Operations Strategy In a Global Environment</Template>
  <TotalTime>3360</TotalTime>
  <Words>1346</Words>
  <Application>Microsoft Office PowerPoint</Application>
  <PresentationFormat>Widescreen</PresentationFormat>
  <Paragraphs>164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Black</vt:lpstr>
      <vt:lpstr>Brush Script MT</vt:lpstr>
      <vt:lpstr>Calibri</vt:lpstr>
      <vt:lpstr>Tahoma</vt:lpstr>
      <vt:lpstr>Times New Roman</vt:lpstr>
      <vt:lpstr>Wingdings</vt:lpstr>
      <vt:lpstr>Blueprint</vt:lpstr>
      <vt:lpstr>RESEARCH METHODS</vt:lpstr>
      <vt:lpstr>OVERVIEW </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TYPES OF RESEARCH &amp; THEIR PURPOSE</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Francis Mutuku</cp:lastModifiedBy>
  <cp:revision>81</cp:revision>
  <dcterms:created xsi:type="dcterms:W3CDTF">2022-05-16T08:27:04Z</dcterms:created>
  <dcterms:modified xsi:type="dcterms:W3CDTF">2026-01-22T16:06:39Z</dcterms:modified>
</cp:coreProperties>
</file>